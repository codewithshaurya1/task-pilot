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1C"/>
        </a:solidFill>
      </p:bgPr>
    </p:bg>
    <p:spTree>
      <p:nvGrpSpPr>
        <p:cNvPr id="1" name=""/>
        <p:cNvGrpSpPr/>
        <p:nvPr/>
      </p:nvGrpSpPr>
      <p:grpSpPr>
        <a:xfrm>
          <a:off x="0" y="0"/>
          <a:ext cx="0" cy="0"/>
          <a:chOff x="0" y="0"/>
          <a:chExt cx="0" cy="0"/>
        </a:xfrm>
      </p:grpSpPr>
      <p:sp>
        <p:nvSpPr>
          <p:cNvPr id="2" name="Shape 0"/>
          <p:cNvSpPr/>
          <p:nvPr/>
        </p:nvSpPr>
        <p:spPr>
          <a:xfrm>
            <a:off x="822960" y="868680"/>
            <a:ext cx="146304" cy="146304"/>
          </a:xfrm>
          <a:prstGeom prst="ellipse">
            <a:avLst/>
          </a:prstGeom>
          <a:solidFill>
            <a:srgbClr val="1F6E5C"/>
          </a:solidFill>
          <a:ln/>
        </p:spPr>
      </p:sp>
      <p:sp>
        <p:nvSpPr>
          <p:cNvPr id="3" name="Text 1"/>
          <p:cNvSpPr txBox="1"/>
          <p:nvPr/>
        </p:nvSpPr>
        <p:spPr>
          <a:xfrm>
            <a:off x="1060704" y="822960"/>
            <a:ext cx="5486400" cy="274320"/>
          </a:xfrm>
          <a:prstGeom prst="rect">
            <a:avLst/>
          </a:prstGeom>
          <a:noFill/>
          <a:ln/>
        </p:spPr>
        <p:txBody>
          <a:bodyPr wrap="square" lIns="0" tIns="0" rIns="0" bIns="0" rtlCol="0" anchor="ctr"/>
          <a:lstStyle/>
          <a:p>
            <a:pPr indent="0" marL="0">
              <a:buNone/>
            </a:pPr>
            <a:r>
              <a:rPr lang="en-US" sz="1300" b="1" spc="150" kern="0" dirty="0">
                <a:solidFill>
                  <a:srgbClr val="9FB3A9"/>
                </a:solidFill>
                <a:latin typeface="Calibri" pitchFamily="34" charset="0"/>
                <a:ea typeface="Calibri" pitchFamily="34" charset="-122"/>
                <a:cs typeface="Calibri" pitchFamily="34" charset="-120"/>
              </a:rPr>
              <a:t>INTELLIGENT WORK OS</a:t>
            </a:r>
            <a:endParaRPr lang="en-US" sz="1300" dirty="0"/>
          </a:p>
        </p:txBody>
      </p:sp>
      <p:sp>
        <p:nvSpPr>
          <p:cNvPr id="4" name="Text 2"/>
          <p:cNvSpPr txBox="1"/>
          <p:nvPr/>
        </p:nvSpPr>
        <p:spPr>
          <a:xfrm>
            <a:off x="777240" y="1965960"/>
            <a:ext cx="10607040" cy="155448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Task</a:t>
            </a:r>
            <a:pPr indent="0" marL="0">
              <a:buNone/>
            </a:pPr>
            <a:r>
              <a:rPr lang="en-US" sz="6800" b="1" dirty="0">
                <a:solidFill>
                  <a:srgbClr val="4FD8B0"/>
                </a:solidFill>
                <a:latin typeface="Cambria" pitchFamily="34" charset="0"/>
                <a:ea typeface="Cambria" pitchFamily="34" charset="-122"/>
                <a:cs typeface="Cambria" pitchFamily="34" charset="-120"/>
              </a:rPr>
              <a:t>Pilot</a:t>
            </a:r>
            <a:endParaRPr lang="en-US" sz="6800" dirty="0"/>
          </a:p>
        </p:txBody>
      </p:sp>
      <p:sp>
        <p:nvSpPr>
          <p:cNvPr id="5" name="Text 3"/>
          <p:cNvSpPr txBox="1"/>
          <p:nvPr/>
        </p:nvSpPr>
        <p:spPr>
          <a:xfrm>
            <a:off x="822960" y="3520440"/>
            <a:ext cx="9601200" cy="1188720"/>
          </a:xfrm>
          <a:prstGeom prst="rect">
            <a:avLst/>
          </a:prstGeom>
          <a:noFill/>
          <a:ln/>
        </p:spPr>
        <p:txBody>
          <a:bodyPr wrap="square" lIns="0" tIns="0" rIns="0" bIns="0" rtlCol="0" anchor="ctr"/>
          <a:lstStyle/>
          <a:p>
            <a:pPr indent="0" marL="0">
              <a:lnSpc>
                <a:spcPts val="3000"/>
              </a:lnSpc>
              <a:buNone/>
            </a:pPr>
            <a:r>
              <a:rPr lang="en-US" sz="2200" dirty="0">
                <a:solidFill>
                  <a:srgbClr val="D7E4DE"/>
                </a:solidFill>
                <a:latin typeface="Calibri" pitchFamily="34" charset="0"/>
                <a:ea typeface="Calibri" pitchFamily="34" charset="-122"/>
                <a:cs typeface="Calibri" pitchFamily="34" charset="-120"/>
              </a:rPr>
              <a:t>Does the AI assistant actually pay off?</a:t>
            </a:r>
            <a:endParaRPr lang="en-US" sz="2200" dirty="0"/>
          </a:p>
          <a:p>
            <a:pPr indent="0" marL="0">
              <a:lnSpc>
                <a:spcPts val="3000"/>
              </a:lnSpc>
              <a:buNone/>
            </a:pPr>
            <a:r>
              <a:rPr lang="en-US" sz="2200" dirty="0">
                <a:solidFill>
                  <a:srgbClr val="D7E4DE"/>
                </a:solidFill>
                <a:latin typeface="Calibri" pitchFamily="34" charset="0"/>
                <a:ea typeface="Calibri" pitchFamily="34" charset="-122"/>
                <a:cs typeface="Calibri" pitchFamily="34" charset="-120"/>
              </a:rPr>
              <a:t>We built a way to find out.</a:t>
            </a:r>
            <a:endParaRPr lang="en-US" sz="2200" dirty="0"/>
          </a:p>
        </p:txBody>
      </p:sp>
      <p:sp>
        <p:nvSpPr>
          <p:cNvPr id="6" name="Text 4"/>
          <p:cNvSpPr txBox="1"/>
          <p:nvPr/>
        </p:nvSpPr>
        <p:spPr>
          <a:xfrm>
            <a:off x="822960" y="4892040"/>
            <a:ext cx="8778240" cy="731520"/>
          </a:xfrm>
          <a:prstGeom prst="rect">
            <a:avLst/>
          </a:prstGeom>
          <a:noFill/>
          <a:ln/>
        </p:spPr>
        <p:txBody>
          <a:bodyPr wrap="square" lIns="0" tIns="0" rIns="0" bIns="0" rtlCol="0" anchor="ctr"/>
          <a:lstStyle/>
          <a:p>
            <a:pPr indent="0" marL="0">
              <a:lnSpc>
                <a:spcPts val="2000"/>
              </a:lnSpc>
              <a:buNone/>
            </a:pPr>
            <a:r>
              <a:rPr lang="en-US" sz="1400" i="1" dirty="0">
                <a:solidFill>
                  <a:srgbClr val="9FB3A9"/>
                </a:solidFill>
                <a:latin typeface="Calibri" pitchFamily="34" charset="0"/>
                <a:ea typeface="Calibri" pitchFamily="34" charset="-122"/>
                <a:cs typeface="Calibri" pitchFamily="34" charset="-120"/>
              </a:rPr>
              <a:t>A working task manager with AI embedded in the workflow — and a built-in lab that measures whether the AI actually helped.</a:t>
            </a:r>
            <a:endParaRPr lang="en-US" sz="1400" dirty="0"/>
          </a:p>
        </p:txBody>
      </p:sp>
      <p:sp>
        <p:nvSpPr>
          <p:cNvPr id="7" name="Text 5"/>
          <p:cNvSpPr txBox="1"/>
          <p:nvPr/>
        </p:nvSpPr>
        <p:spPr>
          <a:xfrm>
            <a:off x="822960" y="6263640"/>
            <a:ext cx="8229600" cy="320040"/>
          </a:xfrm>
          <a:prstGeom prst="rect">
            <a:avLst/>
          </a:prstGeom>
          <a:noFill/>
          <a:ln/>
        </p:spPr>
        <p:txBody>
          <a:bodyPr wrap="square" lIns="0" tIns="0" rIns="0" bIns="0" rtlCol="0" anchor="ctr"/>
          <a:lstStyle/>
          <a:p>
            <a:pPr indent="0" marL="0">
              <a:buNone/>
            </a:pPr>
            <a:r>
              <a:rPr lang="en-US" sz="1200" dirty="0">
                <a:solidFill>
                  <a:srgbClr val="9FB3A9"/>
                </a:solidFill>
                <a:latin typeface="Calibri" pitchFamily="34" charset="0"/>
                <a:ea typeface="Calibri" pitchFamily="34" charset="-122"/>
                <a:cs typeface="Calibri" pitchFamily="34" charset="-120"/>
              </a:rPr>
              <a:t>Team demo  ·  Hackathon: Build a Small App Faster with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THE CHALLENGE</a:t>
            </a:r>
            <a:endParaRPr lang="en-US" sz="1200" dirty="0"/>
          </a:p>
        </p:txBody>
      </p:sp>
      <p:sp>
        <p:nvSpPr>
          <p:cNvPr id="4" name="Text 2"/>
          <p:cNvSpPr txBox="1"/>
          <p:nvPr/>
        </p:nvSpPr>
        <p:spPr>
          <a:xfrm>
            <a:off x="548640" y="914400"/>
            <a:ext cx="6766560" cy="914400"/>
          </a:xfrm>
          <a:prstGeom prst="rect">
            <a:avLst/>
          </a:prstGeom>
          <a:noFill/>
          <a:ln/>
        </p:spPr>
        <p:txBody>
          <a:bodyPr wrap="square" lIns="0" tIns="0" rIns="0" bIns="0" rtlCol="0" anchor="ctr"/>
          <a:lstStyle/>
          <a:p>
            <a:pPr indent="0" marL="0">
              <a:buNone/>
            </a:pPr>
            <a:r>
              <a:rPr lang="en-US" sz="3200" b="1" dirty="0">
                <a:solidFill>
                  <a:srgbClr val="16201C"/>
                </a:solidFill>
                <a:latin typeface="Cambria" pitchFamily="34" charset="0"/>
                <a:ea typeface="Cambria" pitchFamily="34" charset="-122"/>
                <a:cs typeface="Cambria" pitchFamily="34" charset="-120"/>
              </a:rPr>
              <a:t>Leadership needs evidence, not vibes.</a:t>
            </a:r>
            <a:endParaRPr lang="en-US" sz="3200" dirty="0"/>
          </a:p>
        </p:txBody>
      </p:sp>
      <p:sp>
        <p:nvSpPr>
          <p:cNvPr id="5" name="Text 3"/>
          <p:cNvSpPr txBox="1"/>
          <p:nvPr/>
        </p:nvSpPr>
        <p:spPr>
          <a:xfrm>
            <a:off x="548640" y="1874520"/>
            <a:ext cx="6400800" cy="914400"/>
          </a:xfrm>
          <a:prstGeom prst="rect">
            <a:avLst/>
          </a:prstGeom>
          <a:noFill/>
          <a:ln/>
        </p:spPr>
        <p:txBody>
          <a:bodyPr wrap="square" lIns="0" tIns="0" rIns="0" bIns="0" rtlCol="0" anchor="ctr"/>
          <a:lstStyle/>
          <a:p>
            <a:pPr indent="0" marL="0">
              <a:lnSpc>
                <a:spcPts val="2100"/>
              </a:lnSpc>
              <a:buNone/>
            </a:pPr>
            <a:r>
              <a:rPr lang="en-US" sz="1450" dirty="0">
                <a:solidFill>
                  <a:srgbClr val="5B6960"/>
                </a:solidFill>
                <a:latin typeface="Calibri" pitchFamily="34" charset="0"/>
                <a:ea typeface="Calibri" pitchFamily="34" charset="-122"/>
                <a:cs typeface="Calibri" pitchFamily="34" charset="-120"/>
              </a:rPr>
              <a:t>The brief: advise engineering leadership on whether to buy AI-assistant licenses at scale. That call shouldn’t rest on a good demo or a gut feeling.</a:t>
            </a:r>
            <a:endParaRPr lang="en-US" sz="1450" dirty="0"/>
          </a:p>
        </p:txBody>
      </p:sp>
      <p:sp>
        <p:nvSpPr>
          <p:cNvPr id="6" name="Shape 4"/>
          <p:cNvSpPr/>
          <p:nvPr/>
        </p:nvSpPr>
        <p:spPr>
          <a:xfrm>
            <a:off x="548640" y="3017520"/>
            <a:ext cx="457200" cy="457200"/>
          </a:xfrm>
          <a:prstGeom prst="ellipse">
            <a:avLst/>
          </a:prstGeom>
          <a:solidFill>
            <a:srgbClr val="E4F0EB"/>
          </a:solidFill>
          <a:ln/>
        </p:spPr>
      </p:sp>
      <p:sp>
        <p:nvSpPr>
          <p:cNvPr id="7" name="Text 5"/>
          <p:cNvSpPr txBox="1"/>
          <p:nvPr/>
        </p:nvSpPr>
        <p:spPr>
          <a:xfrm>
            <a:off x="548640" y="3008376"/>
            <a:ext cx="457200" cy="457200"/>
          </a:xfrm>
          <a:prstGeom prst="rect">
            <a:avLst/>
          </a:prstGeom>
          <a:noFill/>
          <a:ln/>
        </p:spPr>
        <p:txBody>
          <a:bodyPr wrap="square" lIns="0" tIns="0" rIns="0" bIns="0" rtlCol="0" anchor="ctr"/>
          <a:lstStyle/>
          <a:p>
            <a:pPr algn="ctr" indent="0" marL="0">
              <a:buNone/>
            </a:pPr>
            <a:r>
              <a:rPr lang="en-US" sz="1650" b="1" dirty="0">
                <a:solidFill>
                  <a:srgbClr val="1F6E5C"/>
                </a:solidFill>
                <a:latin typeface="Calibri" pitchFamily="34" charset="0"/>
                <a:ea typeface="Calibri" pitchFamily="34" charset="-122"/>
                <a:cs typeface="Calibri" pitchFamily="34" charset="-120"/>
              </a:rPr>
              <a:t>◆</a:t>
            </a:r>
            <a:endParaRPr lang="en-US" sz="1650" dirty="0"/>
          </a:p>
        </p:txBody>
      </p:sp>
      <p:sp>
        <p:nvSpPr>
          <p:cNvPr id="8" name="Text 6"/>
          <p:cNvSpPr txBox="1"/>
          <p:nvPr/>
        </p:nvSpPr>
        <p:spPr>
          <a:xfrm>
            <a:off x="1207008" y="2962656"/>
            <a:ext cx="576072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Measure actual time</a:t>
            </a:r>
            <a:endParaRPr lang="en-US" sz="1500" dirty="0"/>
          </a:p>
        </p:txBody>
      </p:sp>
      <p:sp>
        <p:nvSpPr>
          <p:cNvPr id="9" name="Text 7"/>
          <p:cNvSpPr txBox="1"/>
          <p:nvPr/>
        </p:nvSpPr>
        <p:spPr>
          <a:xfrm>
            <a:off x="1207008" y="3273552"/>
            <a:ext cx="5760720" cy="54864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Real elapsed minutes on comparable work — not a felt sense of "faster."</a:t>
            </a:r>
            <a:endParaRPr lang="en-US" sz="1200" dirty="0"/>
          </a:p>
        </p:txBody>
      </p:sp>
      <p:sp>
        <p:nvSpPr>
          <p:cNvPr id="10" name="Shape 8"/>
          <p:cNvSpPr/>
          <p:nvPr/>
        </p:nvSpPr>
        <p:spPr>
          <a:xfrm>
            <a:off x="548640" y="4023360"/>
            <a:ext cx="457200" cy="457200"/>
          </a:xfrm>
          <a:prstGeom prst="ellipse">
            <a:avLst/>
          </a:prstGeom>
          <a:solidFill>
            <a:srgbClr val="E4F0EB"/>
          </a:solidFill>
          <a:ln/>
        </p:spPr>
      </p:sp>
      <p:sp>
        <p:nvSpPr>
          <p:cNvPr id="11" name="Text 9"/>
          <p:cNvSpPr txBox="1"/>
          <p:nvPr/>
        </p:nvSpPr>
        <p:spPr>
          <a:xfrm>
            <a:off x="548640" y="4014216"/>
            <a:ext cx="457200" cy="457200"/>
          </a:xfrm>
          <a:prstGeom prst="rect">
            <a:avLst/>
          </a:prstGeom>
          <a:noFill/>
          <a:ln/>
        </p:spPr>
        <p:txBody>
          <a:bodyPr wrap="square" lIns="0" tIns="0" rIns="0" bIns="0" rtlCol="0" anchor="ctr"/>
          <a:lstStyle/>
          <a:p>
            <a:pPr algn="ctr" indent="0" marL="0">
              <a:buNone/>
            </a:pPr>
            <a:r>
              <a:rPr lang="en-US" sz="1650" b="1" dirty="0">
                <a:solidFill>
                  <a:srgbClr val="1F6E5C"/>
                </a:solidFill>
                <a:latin typeface="Calibri" pitchFamily="34" charset="0"/>
                <a:ea typeface="Calibri" pitchFamily="34" charset="-122"/>
                <a:cs typeface="Calibri" pitchFamily="34" charset="-120"/>
              </a:rPr>
              <a:t>↔</a:t>
            </a:r>
            <a:endParaRPr lang="en-US" sz="1650" dirty="0"/>
          </a:p>
        </p:txBody>
      </p:sp>
      <p:sp>
        <p:nvSpPr>
          <p:cNvPr id="12" name="Text 10"/>
          <p:cNvSpPr txBox="1"/>
          <p:nvPr/>
        </p:nvSpPr>
        <p:spPr>
          <a:xfrm>
            <a:off x="1207008" y="3968496"/>
            <a:ext cx="576072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Report a balanced scorecard</a:t>
            </a:r>
            <a:endParaRPr lang="en-US" sz="1500" dirty="0"/>
          </a:p>
        </p:txBody>
      </p:sp>
      <p:sp>
        <p:nvSpPr>
          <p:cNvPr id="13" name="Text 11"/>
          <p:cNvSpPr txBox="1"/>
          <p:nvPr/>
        </p:nvSpPr>
        <p:spPr>
          <a:xfrm>
            <a:off x="1207008" y="4279392"/>
            <a:ext cx="5760720" cy="54864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Speed and quality together. A fast result that creates rework isn’t a clean win.</a:t>
            </a:r>
            <a:endParaRPr lang="en-US" sz="1200" dirty="0"/>
          </a:p>
        </p:txBody>
      </p:sp>
      <p:sp>
        <p:nvSpPr>
          <p:cNvPr id="14" name="Shape 12"/>
          <p:cNvSpPr/>
          <p:nvPr/>
        </p:nvSpPr>
        <p:spPr>
          <a:xfrm>
            <a:off x="548640" y="5029200"/>
            <a:ext cx="457200" cy="457200"/>
          </a:xfrm>
          <a:prstGeom prst="ellipse">
            <a:avLst/>
          </a:prstGeom>
          <a:solidFill>
            <a:srgbClr val="E4F0EB"/>
          </a:solidFill>
          <a:ln/>
        </p:spPr>
      </p:sp>
      <p:sp>
        <p:nvSpPr>
          <p:cNvPr id="15" name="Text 13"/>
          <p:cNvSpPr txBox="1"/>
          <p:nvPr/>
        </p:nvSpPr>
        <p:spPr>
          <a:xfrm>
            <a:off x="548640" y="5020056"/>
            <a:ext cx="457200" cy="457200"/>
          </a:xfrm>
          <a:prstGeom prst="rect">
            <a:avLst/>
          </a:prstGeom>
          <a:noFill/>
          <a:ln/>
        </p:spPr>
        <p:txBody>
          <a:bodyPr wrap="square" lIns="0" tIns="0" rIns="0" bIns="0" rtlCol="0" anchor="ctr"/>
          <a:lstStyle/>
          <a:p>
            <a:pPr algn="ctr" indent="0" marL="0">
              <a:buNone/>
            </a:pPr>
            <a:r>
              <a:rPr lang="en-US" sz="1650" b="1" dirty="0">
                <a:solidFill>
                  <a:srgbClr val="1F6E5C"/>
                </a:solidFill>
                <a:latin typeface="Calibri" pitchFamily="34" charset="0"/>
                <a:ea typeface="Calibri" pitchFamily="34" charset="-122"/>
                <a:cs typeface="Calibri" pitchFamily="34" charset="-120"/>
              </a:rPr>
              <a:t>●</a:t>
            </a:r>
            <a:endParaRPr lang="en-US" sz="1650" dirty="0"/>
          </a:p>
        </p:txBody>
      </p:sp>
      <p:sp>
        <p:nvSpPr>
          <p:cNvPr id="16" name="Text 14"/>
          <p:cNvSpPr txBox="1"/>
          <p:nvPr/>
        </p:nvSpPr>
        <p:spPr>
          <a:xfrm>
            <a:off x="1207008" y="4974336"/>
            <a:ext cx="576072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Say where it helped — and where it didn’t</a:t>
            </a:r>
            <a:endParaRPr lang="en-US" sz="1500" dirty="0"/>
          </a:p>
        </p:txBody>
      </p:sp>
      <p:sp>
        <p:nvSpPr>
          <p:cNvPr id="17" name="Text 15"/>
          <p:cNvSpPr txBox="1"/>
          <p:nvPr/>
        </p:nvSpPr>
        <p:spPr>
          <a:xfrm>
            <a:off x="1207008" y="5285232"/>
            <a:ext cx="5760720" cy="54864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The honest answer sometimes points the other way. The tool has to allow that.</a:t>
            </a:r>
            <a:endParaRPr lang="en-US" sz="1200" dirty="0"/>
          </a:p>
        </p:txBody>
      </p:sp>
      <p:sp>
        <p:nvSpPr>
          <p:cNvPr id="18" name="Shape 16"/>
          <p:cNvSpPr/>
          <p:nvPr/>
        </p:nvSpPr>
        <p:spPr>
          <a:xfrm>
            <a:off x="8001000" y="914400"/>
            <a:ext cx="3566160" cy="5120640"/>
          </a:xfrm>
          <a:prstGeom prst="rect">
            <a:avLst/>
          </a:prstGeom>
          <a:solidFill>
            <a:srgbClr val="16201C"/>
          </a:solidFill>
          <a:ln/>
        </p:spPr>
      </p:sp>
      <p:sp>
        <p:nvSpPr>
          <p:cNvPr id="19" name="Text 17"/>
          <p:cNvSpPr txBox="1"/>
          <p:nvPr/>
        </p:nvSpPr>
        <p:spPr>
          <a:xfrm>
            <a:off x="8183880" y="1965960"/>
            <a:ext cx="3200400" cy="1188720"/>
          </a:xfrm>
          <a:prstGeom prst="rect">
            <a:avLst/>
          </a:prstGeom>
          <a:noFill/>
          <a:ln/>
        </p:spPr>
        <p:txBody>
          <a:bodyPr wrap="square" lIns="0" tIns="0" rIns="0" bIns="0" rtlCol="0" anchor="ctr"/>
          <a:lstStyle/>
          <a:p>
            <a:pPr algn="ctr" indent="0" marL="0">
              <a:buNone/>
            </a:pPr>
            <a:r>
              <a:rPr lang="en-US" sz="6600" b="1" dirty="0">
                <a:solidFill>
                  <a:srgbClr val="4FD8B0"/>
                </a:solidFill>
                <a:latin typeface="Cambria" pitchFamily="34" charset="0"/>
                <a:ea typeface="Cambria" pitchFamily="34" charset="-122"/>
                <a:cs typeface="Cambria" pitchFamily="34" charset="-120"/>
              </a:rPr>
              <a:t>500</a:t>
            </a:r>
            <a:endParaRPr lang="en-US" sz="6600" dirty="0"/>
          </a:p>
        </p:txBody>
      </p:sp>
      <p:sp>
        <p:nvSpPr>
          <p:cNvPr id="20" name="Text 18"/>
          <p:cNvSpPr txBox="1"/>
          <p:nvPr/>
        </p:nvSpPr>
        <p:spPr>
          <a:xfrm>
            <a:off x="8183880" y="3154680"/>
            <a:ext cx="3200400" cy="548640"/>
          </a:xfrm>
          <a:prstGeom prst="rect">
            <a:avLst/>
          </a:prstGeom>
          <a:noFill/>
          <a:ln/>
        </p:spPr>
        <p:txBody>
          <a:bodyPr wrap="square" lIns="0" tIns="0" rIns="0" bIns="0" rtlCol="0" anchor="ctr"/>
          <a:lstStyle/>
          <a:p>
            <a:pPr algn="ctr" indent="0" marL="0">
              <a:lnSpc>
                <a:spcPts val="1700"/>
              </a:lnSpc>
              <a:buNone/>
            </a:pPr>
            <a:r>
              <a:rPr lang="en-US" sz="1350" dirty="0">
                <a:solidFill>
                  <a:srgbClr val="D7E4DE"/>
                </a:solidFill>
                <a:latin typeface="Calibri" pitchFamily="34" charset="0"/>
                <a:ea typeface="Calibri" pitchFamily="34" charset="-122"/>
                <a:cs typeface="Calibri" pitchFamily="34" charset="-120"/>
              </a:rPr>
              <a:t>developer licenses on the table</a:t>
            </a:r>
            <a:endParaRPr lang="en-US" sz="1350" dirty="0"/>
          </a:p>
        </p:txBody>
      </p:sp>
      <p:sp>
        <p:nvSpPr>
          <p:cNvPr id="21" name="Shape 19"/>
          <p:cNvSpPr/>
          <p:nvPr/>
        </p:nvSpPr>
        <p:spPr>
          <a:xfrm>
            <a:off x="8549640" y="3977640"/>
            <a:ext cx="2468880" cy="0"/>
          </a:xfrm>
          <a:prstGeom prst="line">
            <a:avLst/>
          </a:prstGeom>
          <a:noFill/>
          <a:ln w="12700">
            <a:solidFill>
              <a:srgbClr val="2A342F"/>
            </a:solidFill>
            <a:prstDash val="solid"/>
          </a:ln>
        </p:spPr>
      </p:sp>
      <p:sp>
        <p:nvSpPr>
          <p:cNvPr id="22" name="Text 20"/>
          <p:cNvSpPr txBox="1"/>
          <p:nvPr/>
        </p:nvSpPr>
        <p:spPr>
          <a:xfrm>
            <a:off x="8183880" y="4206240"/>
            <a:ext cx="3200400" cy="1280160"/>
          </a:xfrm>
          <a:prstGeom prst="rect">
            <a:avLst/>
          </a:prstGeom>
          <a:noFill/>
          <a:ln/>
        </p:spPr>
        <p:txBody>
          <a:bodyPr wrap="square" lIns="0" tIns="0" rIns="0" bIns="0" rtlCol="0" anchor="ctr"/>
          <a:lstStyle/>
          <a:p>
            <a:pPr algn="ctr" indent="0" marL="0">
              <a:lnSpc>
                <a:spcPts val="1700"/>
              </a:lnSpc>
              <a:buNone/>
            </a:pPr>
            <a:r>
              <a:rPr lang="en-US" sz="1250" i="1" dirty="0">
                <a:solidFill>
                  <a:srgbClr val="9FB3A9"/>
                </a:solidFill>
                <a:latin typeface="Calibri" pitchFamily="34" charset="0"/>
                <a:ea typeface="Calibri" pitchFamily="34" charset="-122"/>
                <a:cs typeface="Calibri" pitchFamily="34" charset="-120"/>
              </a:rPr>
              <a:t>One good pilot, measured honestly, beats a thousand opinions.</a:t>
            </a:r>
            <a:endParaRPr lang="en-US" sz="1250" dirty="0"/>
          </a:p>
        </p:txBody>
      </p:sp>
      <p:sp>
        <p:nvSpPr>
          <p:cNvPr id="23" name="Text 21"/>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24"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1"/>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OUR APPROACH</a:t>
            </a:r>
            <a:endParaRPr lang="en-US" sz="1200" dirty="0"/>
          </a:p>
        </p:txBody>
      </p:sp>
      <p:sp>
        <p:nvSpPr>
          <p:cNvPr id="4" name="Text 2"/>
          <p:cNvSpPr txBox="1"/>
          <p:nvPr/>
        </p:nvSpPr>
        <p:spPr>
          <a:xfrm>
            <a:off x="548640" y="914400"/>
            <a:ext cx="10515600" cy="914400"/>
          </a:xfrm>
          <a:prstGeom prst="rect">
            <a:avLst/>
          </a:prstGeom>
          <a:noFill/>
          <a:ln/>
        </p:spPr>
        <p:txBody>
          <a:bodyPr wrap="square" lIns="0" tIns="0" rIns="0" bIns="0" rtlCol="0" anchor="ctr"/>
          <a:lstStyle/>
          <a:p>
            <a:pPr indent="0" marL="0">
              <a:buNone/>
            </a:pPr>
            <a:r>
              <a:rPr lang="en-US" sz="3000" b="1" dirty="0">
                <a:solidFill>
                  <a:srgbClr val="16201C"/>
                </a:solidFill>
                <a:latin typeface="Cambria" pitchFamily="34" charset="0"/>
                <a:ea typeface="Cambria" pitchFamily="34" charset="-122"/>
                <a:cs typeface="Cambria" pitchFamily="34" charset="-120"/>
              </a:rPr>
              <a:t>AI lives inside the work — not on a separate chat tab.</a:t>
            </a:r>
            <a:endParaRPr lang="en-US" sz="3000" dirty="0"/>
          </a:p>
        </p:txBody>
      </p:sp>
      <p:sp>
        <p:nvSpPr>
          <p:cNvPr id="5" name="Text 3"/>
          <p:cNvSpPr txBox="1"/>
          <p:nvPr/>
        </p:nvSpPr>
        <p:spPr>
          <a:xfrm>
            <a:off x="548640" y="1783080"/>
            <a:ext cx="10424160" cy="640080"/>
          </a:xfrm>
          <a:prstGeom prst="rect">
            <a:avLst/>
          </a:prstGeom>
          <a:noFill/>
          <a:ln/>
        </p:spPr>
        <p:txBody>
          <a:bodyPr wrap="square" lIns="0" tIns="0" rIns="0" bIns="0" rtlCol="0" anchor="ctr"/>
          <a:lstStyle/>
          <a:p>
            <a:pPr indent="0" marL="0">
              <a:lnSpc>
                <a:spcPts val="2000"/>
              </a:lnSpc>
              <a:buNone/>
            </a:pPr>
            <a:r>
              <a:rPr lang="en-US" sz="1400" dirty="0">
                <a:solidFill>
                  <a:srgbClr val="5B6960"/>
                </a:solidFill>
                <a:latin typeface="Calibri" pitchFamily="34" charset="0"/>
                <a:ea typeface="Calibri" pitchFamily="34" charset="-122"/>
                <a:cs typeface="Calibri" pitchFamily="34" charset="-120"/>
              </a:rPr>
              <a:t>One command bar creates tasks, plans the day, and breaks work into steps — in plain language. No context-switching to a chatbot to get help.</a:t>
            </a:r>
            <a:endParaRPr lang="en-US" sz="1400" dirty="0"/>
          </a:p>
        </p:txBody>
      </p:sp>
      <p:sp>
        <p:nvSpPr>
          <p:cNvPr id="6" name="Shape 4"/>
          <p:cNvSpPr/>
          <p:nvPr/>
        </p:nvSpPr>
        <p:spPr>
          <a:xfrm>
            <a:off x="548640" y="2697480"/>
            <a:ext cx="3429000" cy="3291840"/>
          </a:xfrm>
          <a:prstGeom prst="rect">
            <a:avLst/>
          </a:prstGeom>
          <a:solidFill>
            <a:srgbClr val="FFFFFF"/>
          </a:solidFill>
          <a:ln w="12700">
            <a:solidFill>
              <a:srgbClr val="D7DCD1"/>
            </a:solidFill>
            <a:prstDash val="solid"/>
          </a:ln>
        </p:spPr>
      </p:sp>
      <p:sp>
        <p:nvSpPr>
          <p:cNvPr id="7" name="Shape 5"/>
          <p:cNvSpPr/>
          <p:nvPr/>
        </p:nvSpPr>
        <p:spPr>
          <a:xfrm>
            <a:off x="822960" y="3017520"/>
            <a:ext cx="566928" cy="566928"/>
          </a:xfrm>
          <a:prstGeom prst="ellipse">
            <a:avLst/>
          </a:prstGeom>
          <a:solidFill>
            <a:srgbClr val="E4F0EB"/>
          </a:solidFill>
          <a:ln/>
        </p:spPr>
      </p:sp>
      <p:sp>
        <p:nvSpPr>
          <p:cNvPr id="8" name="Text 6"/>
          <p:cNvSpPr txBox="1"/>
          <p:nvPr/>
        </p:nvSpPr>
        <p:spPr>
          <a:xfrm>
            <a:off x="822960" y="3008376"/>
            <a:ext cx="566928" cy="566928"/>
          </a:xfrm>
          <a:prstGeom prst="rect">
            <a:avLst/>
          </a:prstGeom>
          <a:noFill/>
          <a:ln/>
        </p:spPr>
        <p:txBody>
          <a:bodyPr wrap="square" lIns="0" tIns="0" rIns="0" bIns="0" rtlCol="0" anchor="ctr"/>
          <a:lstStyle/>
          <a:p>
            <a:pPr algn="ctr" indent="0" marL="0">
              <a:buNone/>
            </a:pPr>
            <a:r>
              <a:rPr lang="en-US" sz="2046" b="1" dirty="0">
                <a:solidFill>
                  <a:srgbClr val="1F6E5C"/>
                </a:solidFill>
                <a:latin typeface="Calibri" pitchFamily="34" charset="0"/>
                <a:ea typeface="Calibri" pitchFamily="34" charset="-122"/>
                <a:cs typeface="Calibri" pitchFamily="34" charset="-120"/>
              </a:rPr>
              <a:t>✓</a:t>
            </a:r>
            <a:endParaRPr lang="en-US" sz="2046" dirty="0"/>
          </a:p>
        </p:txBody>
      </p:sp>
      <p:sp>
        <p:nvSpPr>
          <p:cNvPr id="9" name="Text 7"/>
          <p:cNvSpPr txBox="1"/>
          <p:nvPr/>
        </p:nvSpPr>
        <p:spPr>
          <a:xfrm>
            <a:off x="822960" y="3794760"/>
            <a:ext cx="2880360" cy="548640"/>
          </a:xfrm>
          <a:prstGeom prst="rect">
            <a:avLst/>
          </a:prstGeom>
          <a:noFill/>
          <a:ln/>
        </p:spPr>
        <p:txBody>
          <a:bodyPr wrap="square" lIns="0" tIns="0" rIns="0" bIns="0" rtlCol="0" anchor="ctr"/>
          <a:lstStyle/>
          <a:p>
            <a:pPr indent="0" marL="0">
              <a:buNone/>
            </a:pPr>
            <a:r>
              <a:rPr lang="en-US" sz="1600" b="1" dirty="0">
                <a:solidFill>
                  <a:srgbClr val="16201C"/>
                </a:solidFill>
                <a:latin typeface="Calibri" pitchFamily="34" charset="0"/>
                <a:ea typeface="Calibri" pitchFamily="34" charset="-122"/>
                <a:cs typeface="Calibri" pitchFamily="34" charset="-120"/>
              </a:rPr>
              <a:t>One command bar</a:t>
            </a:r>
            <a:endParaRPr lang="en-US" sz="1600" dirty="0"/>
          </a:p>
        </p:txBody>
      </p:sp>
      <p:sp>
        <p:nvSpPr>
          <p:cNvPr id="10" name="Text 8"/>
          <p:cNvSpPr txBox="1"/>
          <p:nvPr/>
        </p:nvSpPr>
        <p:spPr>
          <a:xfrm>
            <a:off x="822960" y="4343400"/>
            <a:ext cx="2880360" cy="1463040"/>
          </a:xfrm>
          <a:prstGeom prst="rect">
            <a:avLst/>
          </a:prstGeom>
          <a:noFill/>
          <a:ln/>
        </p:spPr>
        <p:txBody>
          <a:bodyPr wrap="square" lIns="0" tIns="0" rIns="0" bIns="0" rtlCol="0" anchor="ctr"/>
          <a:lstStyle/>
          <a:p>
            <a:pPr indent="0" marL="0">
              <a:lnSpc>
                <a:spcPts val="1700"/>
              </a:lnSpc>
              <a:buNone/>
            </a:pPr>
            <a:r>
              <a:rPr lang="en-US" sz="1250" dirty="0">
                <a:solidFill>
                  <a:srgbClr val="5B6960"/>
                </a:solidFill>
                <a:latin typeface="Calibri" pitchFamily="34" charset="0"/>
                <a:ea typeface="Calibri" pitchFamily="34" charset="-122"/>
                <a:cs typeface="Calibri" pitchFamily="34" charset="-120"/>
              </a:rPr>
              <a:t>"Add a high priority task to prep the investor deck tomorrow" — parsed and created instantly.</a:t>
            </a:r>
            <a:endParaRPr lang="en-US" sz="1250" dirty="0"/>
          </a:p>
        </p:txBody>
      </p:sp>
      <p:sp>
        <p:nvSpPr>
          <p:cNvPr id="11" name="Shape 9"/>
          <p:cNvSpPr/>
          <p:nvPr/>
        </p:nvSpPr>
        <p:spPr>
          <a:xfrm>
            <a:off x="4297680" y="2697480"/>
            <a:ext cx="3429000" cy="3291840"/>
          </a:xfrm>
          <a:prstGeom prst="rect">
            <a:avLst/>
          </a:prstGeom>
          <a:solidFill>
            <a:srgbClr val="FFFFFF"/>
          </a:solidFill>
          <a:ln w="12700">
            <a:solidFill>
              <a:srgbClr val="D7DCD1"/>
            </a:solidFill>
            <a:prstDash val="solid"/>
          </a:ln>
        </p:spPr>
      </p:sp>
      <p:sp>
        <p:nvSpPr>
          <p:cNvPr id="12" name="Shape 10"/>
          <p:cNvSpPr/>
          <p:nvPr/>
        </p:nvSpPr>
        <p:spPr>
          <a:xfrm>
            <a:off x="4572000" y="3017520"/>
            <a:ext cx="566928" cy="566928"/>
          </a:xfrm>
          <a:prstGeom prst="ellipse">
            <a:avLst/>
          </a:prstGeom>
          <a:solidFill>
            <a:srgbClr val="E4F0EB"/>
          </a:solidFill>
          <a:ln/>
        </p:spPr>
      </p:sp>
      <p:sp>
        <p:nvSpPr>
          <p:cNvPr id="13" name="Text 11"/>
          <p:cNvSpPr txBox="1"/>
          <p:nvPr/>
        </p:nvSpPr>
        <p:spPr>
          <a:xfrm>
            <a:off x="4572000" y="3008376"/>
            <a:ext cx="566928" cy="566928"/>
          </a:xfrm>
          <a:prstGeom prst="rect">
            <a:avLst/>
          </a:prstGeom>
          <a:noFill/>
          <a:ln/>
        </p:spPr>
        <p:txBody>
          <a:bodyPr wrap="square" lIns="0" tIns="0" rIns="0" bIns="0" rtlCol="0" anchor="ctr"/>
          <a:lstStyle/>
          <a:p>
            <a:pPr algn="ctr" indent="0" marL="0">
              <a:buNone/>
            </a:pPr>
            <a:r>
              <a:rPr lang="en-US" sz="2046" b="1" dirty="0">
                <a:solidFill>
                  <a:srgbClr val="1F6E5C"/>
                </a:solidFill>
                <a:latin typeface="Calibri" pitchFamily="34" charset="0"/>
                <a:ea typeface="Calibri" pitchFamily="34" charset="-122"/>
                <a:cs typeface="Calibri" pitchFamily="34" charset="-120"/>
              </a:rPr>
              <a:t>✓</a:t>
            </a:r>
            <a:endParaRPr lang="en-US" sz="2046" dirty="0"/>
          </a:p>
        </p:txBody>
      </p:sp>
      <p:sp>
        <p:nvSpPr>
          <p:cNvPr id="14" name="Text 12"/>
          <p:cNvSpPr txBox="1"/>
          <p:nvPr/>
        </p:nvSpPr>
        <p:spPr>
          <a:xfrm>
            <a:off x="4572000" y="3794760"/>
            <a:ext cx="2880360" cy="548640"/>
          </a:xfrm>
          <a:prstGeom prst="rect">
            <a:avLst/>
          </a:prstGeom>
          <a:noFill/>
          <a:ln/>
        </p:spPr>
        <p:txBody>
          <a:bodyPr wrap="square" lIns="0" tIns="0" rIns="0" bIns="0" rtlCol="0" anchor="ctr"/>
          <a:lstStyle/>
          <a:p>
            <a:pPr indent="0" marL="0">
              <a:buNone/>
            </a:pPr>
            <a:r>
              <a:rPr lang="en-US" sz="1600" b="1" dirty="0">
                <a:solidFill>
                  <a:srgbClr val="16201C"/>
                </a:solidFill>
                <a:latin typeface="Calibri" pitchFamily="34" charset="0"/>
                <a:ea typeface="Calibri" pitchFamily="34" charset="-122"/>
                <a:cs typeface="Calibri" pitchFamily="34" charset="-120"/>
              </a:rPr>
              <a:t>Works with zero setup</a:t>
            </a:r>
            <a:endParaRPr lang="en-US" sz="1600" dirty="0"/>
          </a:p>
        </p:txBody>
      </p:sp>
      <p:sp>
        <p:nvSpPr>
          <p:cNvPr id="15" name="Text 13"/>
          <p:cNvSpPr txBox="1"/>
          <p:nvPr/>
        </p:nvSpPr>
        <p:spPr>
          <a:xfrm>
            <a:off x="4572000" y="4343400"/>
            <a:ext cx="2880360" cy="1463040"/>
          </a:xfrm>
          <a:prstGeom prst="rect">
            <a:avLst/>
          </a:prstGeom>
          <a:noFill/>
          <a:ln/>
        </p:spPr>
        <p:txBody>
          <a:bodyPr wrap="square" lIns="0" tIns="0" rIns="0" bIns="0" rtlCol="0" anchor="ctr"/>
          <a:lstStyle/>
          <a:p>
            <a:pPr indent="0" marL="0">
              <a:lnSpc>
                <a:spcPts val="1700"/>
              </a:lnSpc>
              <a:buNone/>
            </a:pPr>
            <a:r>
              <a:rPr lang="en-US" sz="1250" dirty="0">
                <a:solidFill>
                  <a:srgbClr val="5B6960"/>
                </a:solidFill>
                <a:latin typeface="Calibri" pitchFamily="34" charset="0"/>
                <a:ea typeface="Calibri" pitchFamily="34" charset="-122"/>
                <a:cs typeface="Calibri" pitchFamily="34" charset="-120"/>
              </a:rPr>
              <a:t>Every core feature — quick-add, decomposition, next-action insight — runs on local logic with no API key at all.</a:t>
            </a:r>
            <a:endParaRPr lang="en-US" sz="1250" dirty="0"/>
          </a:p>
        </p:txBody>
      </p:sp>
      <p:sp>
        <p:nvSpPr>
          <p:cNvPr id="16" name="Shape 14"/>
          <p:cNvSpPr/>
          <p:nvPr/>
        </p:nvSpPr>
        <p:spPr>
          <a:xfrm>
            <a:off x="8046720" y="2697480"/>
            <a:ext cx="3429000" cy="3291840"/>
          </a:xfrm>
          <a:prstGeom prst="rect">
            <a:avLst/>
          </a:prstGeom>
          <a:solidFill>
            <a:srgbClr val="FFFFFF"/>
          </a:solidFill>
          <a:ln w="12700">
            <a:solidFill>
              <a:srgbClr val="D7DCD1"/>
            </a:solidFill>
            <a:prstDash val="solid"/>
          </a:ln>
        </p:spPr>
      </p:sp>
      <p:sp>
        <p:nvSpPr>
          <p:cNvPr id="17" name="Shape 15"/>
          <p:cNvSpPr/>
          <p:nvPr/>
        </p:nvSpPr>
        <p:spPr>
          <a:xfrm>
            <a:off x="8321040" y="3017520"/>
            <a:ext cx="566928" cy="566928"/>
          </a:xfrm>
          <a:prstGeom prst="ellipse">
            <a:avLst/>
          </a:prstGeom>
          <a:solidFill>
            <a:srgbClr val="E4F0EB"/>
          </a:solidFill>
          <a:ln/>
        </p:spPr>
      </p:sp>
      <p:sp>
        <p:nvSpPr>
          <p:cNvPr id="18" name="Text 16"/>
          <p:cNvSpPr txBox="1"/>
          <p:nvPr/>
        </p:nvSpPr>
        <p:spPr>
          <a:xfrm>
            <a:off x="8321040" y="3008376"/>
            <a:ext cx="566928" cy="566928"/>
          </a:xfrm>
          <a:prstGeom prst="rect">
            <a:avLst/>
          </a:prstGeom>
          <a:noFill/>
          <a:ln/>
        </p:spPr>
        <p:txBody>
          <a:bodyPr wrap="square" lIns="0" tIns="0" rIns="0" bIns="0" rtlCol="0" anchor="ctr"/>
          <a:lstStyle/>
          <a:p>
            <a:pPr algn="ctr" indent="0" marL="0">
              <a:buNone/>
            </a:pPr>
            <a:r>
              <a:rPr lang="en-US" sz="2046" b="1" dirty="0">
                <a:solidFill>
                  <a:srgbClr val="1F6E5C"/>
                </a:solidFill>
                <a:latin typeface="Calibri" pitchFamily="34" charset="0"/>
                <a:ea typeface="Calibri" pitchFamily="34" charset="-122"/>
                <a:cs typeface="Calibri" pitchFamily="34" charset="-120"/>
              </a:rPr>
              <a:t>◆</a:t>
            </a:r>
            <a:endParaRPr lang="en-US" sz="2046" dirty="0"/>
          </a:p>
        </p:txBody>
      </p:sp>
      <p:sp>
        <p:nvSpPr>
          <p:cNvPr id="19" name="Text 17"/>
          <p:cNvSpPr txBox="1"/>
          <p:nvPr/>
        </p:nvSpPr>
        <p:spPr>
          <a:xfrm>
            <a:off x="8321040" y="3794760"/>
            <a:ext cx="2880360" cy="548640"/>
          </a:xfrm>
          <a:prstGeom prst="rect">
            <a:avLst/>
          </a:prstGeom>
          <a:noFill/>
          <a:ln/>
        </p:spPr>
        <p:txBody>
          <a:bodyPr wrap="square" lIns="0" tIns="0" rIns="0" bIns="0" rtlCol="0" anchor="ctr"/>
          <a:lstStyle/>
          <a:p>
            <a:pPr indent="0" marL="0">
              <a:buNone/>
            </a:pPr>
            <a:r>
              <a:rPr lang="en-US" sz="1600" b="1" dirty="0">
                <a:solidFill>
                  <a:srgbClr val="16201C"/>
                </a:solidFill>
                <a:latin typeface="Calibri" pitchFamily="34" charset="0"/>
                <a:ea typeface="Calibri" pitchFamily="34" charset="-122"/>
                <a:cs typeface="Calibri" pitchFamily="34" charset="-120"/>
              </a:rPr>
              <a:t>AI is optional, not assumed</a:t>
            </a:r>
            <a:endParaRPr lang="en-US" sz="1600" dirty="0"/>
          </a:p>
        </p:txBody>
      </p:sp>
      <p:sp>
        <p:nvSpPr>
          <p:cNvPr id="20" name="Text 18"/>
          <p:cNvSpPr txBox="1"/>
          <p:nvPr/>
        </p:nvSpPr>
        <p:spPr>
          <a:xfrm>
            <a:off x="8321040" y="4343400"/>
            <a:ext cx="2880360" cy="1463040"/>
          </a:xfrm>
          <a:prstGeom prst="rect">
            <a:avLst/>
          </a:prstGeom>
          <a:noFill/>
          <a:ln/>
        </p:spPr>
        <p:txBody>
          <a:bodyPr wrap="square" lIns="0" tIns="0" rIns="0" bIns="0" rtlCol="0" anchor="ctr"/>
          <a:lstStyle/>
          <a:p>
            <a:pPr indent="0" marL="0">
              <a:lnSpc>
                <a:spcPts val="1700"/>
              </a:lnSpc>
              <a:buNone/>
            </a:pPr>
            <a:r>
              <a:rPr lang="en-US" sz="1250" dirty="0">
                <a:solidFill>
                  <a:srgbClr val="5B6960"/>
                </a:solidFill>
                <a:latin typeface="Calibri" pitchFamily="34" charset="0"/>
                <a:ea typeface="Calibri" pitchFamily="34" charset="-122"/>
                <a:cs typeface="Calibri" pitchFamily="34" charset="-120"/>
              </a:rPr>
              <a:t>Add your own key for live AI answers. Nothing about the app depends on it being there.</a:t>
            </a:r>
            <a:endParaRPr lang="en-US" sz="1250" dirty="0"/>
          </a:p>
        </p:txBody>
      </p:sp>
      <p:sp>
        <p:nvSpPr>
          <p:cNvPr id="21" name="Text 1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22" name="Text 20"/>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PRODUCT TOUR · 1 OF 2</a:t>
            </a:r>
            <a:endParaRPr lang="en-US" sz="1200" dirty="0"/>
          </a:p>
        </p:txBody>
      </p:sp>
      <p:sp>
        <p:nvSpPr>
          <p:cNvPr id="4" name="Text 2"/>
          <p:cNvSpPr txBox="1"/>
          <p:nvPr/>
        </p:nvSpPr>
        <p:spPr>
          <a:xfrm>
            <a:off x="548640" y="914400"/>
            <a:ext cx="5120640" cy="1005840"/>
          </a:xfrm>
          <a:prstGeom prst="rect">
            <a:avLst/>
          </a:prstGeom>
          <a:noFill/>
          <a:ln/>
        </p:spPr>
        <p:txBody>
          <a:bodyPr wrap="square" lIns="0" tIns="0" rIns="0" bIns="0" rtlCol="0" anchor="ctr"/>
          <a:lstStyle/>
          <a:p>
            <a:pPr indent="0" marL="0">
              <a:buNone/>
            </a:pPr>
            <a:r>
              <a:rPr lang="en-US" sz="2700" b="1" dirty="0">
                <a:solidFill>
                  <a:srgbClr val="16201C"/>
                </a:solidFill>
                <a:latin typeface="Cambria" pitchFamily="34" charset="0"/>
                <a:ea typeface="Cambria" pitchFamily="34" charset="-122"/>
                <a:cs typeface="Cambria" pitchFamily="34" charset="-120"/>
              </a:rPr>
              <a:t>Everything you need, one glance in.</a:t>
            </a:r>
            <a:endParaRPr lang="en-US" sz="2700" dirty="0"/>
          </a:p>
        </p:txBody>
      </p:sp>
      <p:sp>
        <p:nvSpPr>
          <p:cNvPr id="5" name="Shape 3"/>
          <p:cNvSpPr/>
          <p:nvPr/>
        </p:nvSpPr>
        <p:spPr>
          <a:xfrm>
            <a:off x="548640" y="2112264"/>
            <a:ext cx="146304" cy="146304"/>
          </a:xfrm>
          <a:prstGeom prst="ellipse">
            <a:avLst/>
          </a:prstGeom>
          <a:solidFill>
            <a:srgbClr val="1F6E5C"/>
          </a:solidFill>
          <a:ln/>
        </p:spPr>
      </p:sp>
      <p:sp>
        <p:nvSpPr>
          <p:cNvPr id="6" name="Text 4"/>
          <p:cNvSpPr txBox="1"/>
          <p:nvPr/>
        </p:nvSpPr>
        <p:spPr>
          <a:xfrm>
            <a:off x="804672" y="2057400"/>
            <a:ext cx="466344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A live readout</a:t>
            </a:r>
            <a:endParaRPr lang="en-US" sz="1500" dirty="0"/>
          </a:p>
        </p:txBody>
      </p:sp>
      <p:sp>
        <p:nvSpPr>
          <p:cNvPr id="7" name="Text 5"/>
          <p:cNvSpPr txBox="1"/>
          <p:nvPr/>
        </p:nvSpPr>
        <p:spPr>
          <a:xfrm>
            <a:off x="804672" y="2386584"/>
            <a:ext cx="4663440" cy="64008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Overdue, due today, open, and high-priority counts — plus evidence runs logged, right at the top.</a:t>
            </a:r>
            <a:endParaRPr lang="en-US" sz="1250" dirty="0"/>
          </a:p>
        </p:txBody>
      </p:sp>
      <p:sp>
        <p:nvSpPr>
          <p:cNvPr id="8" name="Shape 6"/>
          <p:cNvSpPr/>
          <p:nvPr/>
        </p:nvSpPr>
        <p:spPr>
          <a:xfrm>
            <a:off x="548640" y="3255264"/>
            <a:ext cx="146304" cy="146304"/>
          </a:xfrm>
          <a:prstGeom prst="ellipse">
            <a:avLst/>
          </a:prstGeom>
          <a:solidFill>
            <a:srgbClr val="1F6E5C"/>
          </a:solidFill>
          <a:ln/>
        </p:spPr>
      </p:sp>
      <p:sp>
        <p:nvSpPr>
          <p:cNvPr id="9" name="Text 7"/>
          <p:cNvSpPr txBox="1"/>
          <p:nvPr/>
        </p:nvSpPr>
        <p:spPr>
          <a:xfrm>
            <a:off x="804672" y="3200400"/>
            <a:ext cx="466344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A next-action recommendation</a:t>
            </a:r>
            <a:endParaRPr lang="en-US" sz="1500" dirty="0"/>
          </a:p>
        </p:txBody>
      </p:sp>
      <p:sp>
        <p:nvSpPr>
          <p:cNvPr id="10" name="Text 8"/>
          <p:cNvSpPr txBox="1"/>
          <p:nvPr/>
        </p:nvSpPr>
        <p:spPr>
          <a:xfrm>
            <a:off x="804672" y="3529584"/>
            <a:ext cx="4663440" cy="64008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TaskPilot reasons over your queue and tells you what to do next, and why.</a:t>
            </a:r>
            <a:endParaRPr lang="en-US" sz="1250" dirty="0"/>
          </a:p>
        </p:txBody>
      </p:sp>
      <p:sp>
        <p:nvSpPr>
          <p:cNvPr id="11" name="Shape 9"/>
          <p:cNvSpPr/>
          <p:nvPr/>
        </p:nvSpPr>
        <p:spPr>
          <a:xfrm>
            <a:off x="548640" y="4398264"/>
            <a:ext cx="146304" cy="146304"/>
          </a:xfrm>
          <a:prstGeom prst="ellipse">
            <a:avLst/>
          </a:prstGeom>
          <a:solidFill>
            <a:srgbClr val="1F6E5C"/>
          </a:solidFill>
          <a:ln/>
        </p:spPr>
      </p:sp>
      <p:sp>
        <p:nvSpPr>
          <p:cNvPr id="12" name="Text 10"/>
          <p:cNvSpPr txBox="1"/>
          <p:nvPr/>
        </p:nvSpPr>
        <p:spPr>
          <a:xfrm>
            <a:off x="804672" y="4343400"/>
            <a:ext cx="466344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An evidence snapshot</a:t>
            </a:r>
            <a:endParaRPr lang="en-US" sz="1500" dirty="0"/>
          </a:p>
        </p:txBody>
      </p:sp>
      <p:sp>
        <p:nvSpPr>
          <p:cNvPr id="13" name="Text 11"/>
          <p:cNvSpPr txBox="1"/>
          <p:nvPr/>
        </p:nvSpPr>
        <p:spPr>
          <a:xfrm>
            <a:off x="804672" y="4672584"/>
            <a:ext cx="4663440" cy="64008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The same verdict from the AI Impact Lab, surfaced where you actually work.</a:t>
            </a:r>
            <a:endParaRPr lang="en-US" sz="1250" dirty="0"/>
          </a:p>
        </p:txBody>
      </p:sp>
      <p:pic>
        <p:nvPicPr>
          <p:cNvPr id="14" name="Image 0" descr="shots/overview.png">    </p:cNvPr>
          <p:cNvPicPr>
            <a:picLocks noChangeAspect="1"/>
          </p:cNvPicPr>
          <p:nvPr/>
        </p:nvPicPr>
        <p:blipFill>
          <a:blip r:embed="rId1"/>
          <a:stretch>
            <a:fillRect/>
          </a:stretch>
        </p:blipFill>
        <p:spPr>
          <a:xfrm>
            <a:off x="5806440" y="960120"/>
            <a:ext cx="5806440" cy="3666744"/>
          </a:xfrm>
          <a:prstGeom prst="rect">
            <a:avLst/>
          </a:prstGeom>
          <a:effectLst>
            <a:outerShdw sx="100000" sy="100000" kx="0" ky="0" algn="bl" rotWithShape="0" blurRad="127000" dist="50800" dir="5400000">
              <a:srgbClr val="0A0E0B">
                <a:alpha val="28000"/>
              </a:srgbClr>
            </a:outerShdw>
          </a:effectLst>
        </p:spPr>
      </p:pic>
      <p:sp>
        <p:nvSpPr>
          <p:cNvPr id="15" name="Shape 12"/>
          <p:cNvSpPr/>
          <p:nvPr/>
        </p:nvSpPr>
        <p:spPr>
          <a:xfrm>
            <a:off x="5806440" y="960120"/>
            <a:ext cx="5806440" cy="3666744"/>
          </a:xfrm>
          <a:prstGeom prst="rect">
            <a:avLst/>
          </a:prstGeom>
          <a:ln w="12700">
            <a:solidFill>
              <a:srgbClr val="D7DCD1"/>
            </a:solidFill>
            <a:prstDash val="solid"/>
          </a:ln>
        </p:spPr>
      </p:sp>
      <p:sp>
        <p:nvSpPr>
          <p:cNvPr id="16" name="Text 1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PRODUCT TOUR · 2 OF 2</a:t>
            </a:r>
            <a:endParaRPr lang="en-US" sz="1200" dirty="0"/>
          </a:p>
        </p:txBody>
      </p:sp>
      <p:sp>
        <p:nvSpPr>
          <p:cNvPr id="4" name="Text 2"/>
          <p:cNvSpPr txBox="1"/>
          <p:nvPr/>
        </p:nvSpPr>
        <p:spPr>
          <a:xfrm>
            <a:off x="5806440" y="914400"/>
            <a:ext cx="5852160" cy="1005840"/>
          </a:xfrm>
          <a:prstGeom prst="rect">
            <a:avLst/>
          </a:prstGeom>
          <a:noFill/>
          <a:ln/>
        </p:spPr>
        <p:txBody>
          <a:bodyPr wrap="square" lIns="0" tIns="0" rIns="0" bIns="0" rtlCol="0" anchor="ctr"/>
          <a:lstStyle/>
          <a:p>
            <a:pPr indent="0" marL="0">
              <a:buNone/>
            </a:pPr>
            <a:r>
              <a:rPr lang="en-US" sz="2400" b="1" dirty="0">
                <a:solidFill>
                  <a:srgbClr val="16201C"/>
                </a:solidFill>
                <a:latin typeface="Cambria" pitchFamily="34" charset="0"/>
                <a:ea typeface="Cambria" pitchFamily="34" charset="-122"/>
                <a:cs typeface="Cambria" pitchFamily="34" charset="-120"/>
              </a:rPr>
              <a:t>Simple enough for anyone. Structured enough for real teams.</a:t>
            </a:r>
            <a:endParaRPr lang="en-US" sz="2400" dirty="0"/>
          </a:p>
        </p:txBody>
      </p:sp>
      <p:sp>
        <p:nvSpPr>
          <p:cNvPr id="5" name="Shape 3"/>
          <p:cNvSpPr/>
          <p:nvPr/>
        </p:nvSpPr>
        <p:spPr>
          <a:xfrm>
            <a:off x="5806440" y="2112264"/>
            <a:ext cx="146304" cy="146304"/>
          </a:xfrm>
          <a:prstGeom prst="ellipse">
            <a:avLst/>
          </a:prstGeom>
          <a:solidFill>
            <a:srgbClr val="46586B"/>
          </a:solidFill>
          <a:ln/>
        </p:spPr>
      </p:sp>
      <p:sp>
        <p:nvSpPr>
          <p:cNvPr id="6" name="Text 4"/>
          <p:cNvSpPr txBox="1"/>
          <p:nvPr/>
        </p:nvSpPr>
        <p:spPr>
          <a:xfrm>
            <a:off x="6062472" y="2057400"/>
            <a:ext cx="557784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Search, filter, prioritize</a:t>
            </a:r>
            <a:endParaRPr lang="en-US" sz="1500" dirty="0"/>
          </a:p>
        </p:txBody>
      </p:sp>
      <p:sp>
        <p:nvSpPr>
          <p:cNvPr id="7" name="Text 5"/>
          <p:cNvSpPr txBox="1"/>
          <p:nvPr/>
        </p:nvSpPr>
        <p:spPr>
          <a:xfrm>
            <a:off x="6062472" y="2386584"/>
            <a:ext cx="5577840" cy="64008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Status, priority, due date, project and tags on every task.</a:t>
            </a:r>
            <a:endParaRPr lang="en-US" sz="1250" dirty="0"/>
          </a:p>
        </p:txBody>
      </p:sp>
      <p:sp>
        <p:nvSpPr>
          <p:cNvPr id="8" name="Shape 6"/>
          <p:cNvSpPr/>
          <p:nvPr/>
        </p:nvSpPr>
        <p:spPr>
          <a:xfrm>
            <a:off x="5806440" y="3255264"/>
            <a:ext cx="146304" cy="146304"/>
          </a:xfrm>
          <a:prstGeom prst="ellipse">
            <a:avLst/>
          </a:prstGeom>
          <a:solidFill>
            <a:srgbClr val="46586B"/>
          </a:solidFill>
          <a:ln/>
        </p:spPr>
      </p:sp>
      <p:sp>
        <p:nvSpPr>
          <p:cNvPr id="9" name="Text 7"/>
          <p:cNvSpPr txBox="1"/>
          <p:nvPr/>
        </p:nvSpPr>
        <p:spPr>
          <a:xfrm>
            <a:off x="6062472" y="3200400"/>
            <a:ext cx="557784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"Break into steps"</a:t>
            </a:r>
            <a:endParaRPr lang="en-US" sz="1500" dirty="0"/>
          </a:p>
        </p:txBody>
      </p:sp>
      <p:sp>
        <p:nvSpPr>
          <p:cNvPr id="10" name="Text 8"/>
          <p:cNvSpPr txBox="1"/>
          <p:nvPr/>
        </p:nvSpPr>
        <p:spPr>
          <a:xfrm>
            <a:off x="6062472" y="3529584"/>
            <a:ext cx="5577840" cy="64008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One click turns any task into an ordered checklist — via AI, or a deterministic local fallback if no key is set.</a:t>
            </a:r>
            <a:endParaRPr lang="en-US" sz="1250" dirty="0"/>
          </a:p>
        </p:txBody>
      </p:sp>
      <p:sp>
        <p:nvSpPr>
          <p:cNvPr id="11" name="Shape 9"/>
          <p:cNvSpPr/>
          <p:nvPr/>
        </p:nvSpPr>
        <p:spPr>
          <a:xfrm>
            <a:off x="5806440" y="4398264"/>
            <a:ext cx="146304" cy="146304"/>
          </a:xfrm>
          <a:prstGeom prst="ellipse">
            <a:avLst/>
          </a:prstGeom>
          <a:solidFill>
            <a:srgbClr val="46586B"/>
          </a:solidFill>
          <a:ln/>
        </p:spPr>
      </p:sp>
      <p:sp>
        <p:nvSpPr>
          <p:cNvPr id="12" name="Text 10"/>
          <p:cNvSpPr txBox="1"/>
          <p:nvPr/>
        </p:nvSpPr>
        <p:spPr>
          <a:xfrm>
            <a:off x="6062472" y="4343400"/>
            <a:ext cx="5577840" cy="32004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Progress that updates itself</a:t>
            </a:r>
            <a:endParaRPr lang="en-US" sz="1500" dirty="0"/>
          </a:p>
        </p:txBody>
      </p:sp>
      <p:sp>
        <p:nvSpPr>
          <p:cNvPr id="13" name="Text 11"/>
          <p:cNvSpPr txBox="1"/>
          <p:nvPr/>
        </p:nvSpPr>
        <p:spPr>
          <a:xfrm>
            <a:off x="6062472" y="4672584"/>
            <a:ext cx="5577840" cy="64008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Checking off a step updates a visible progress bar automatically.</a:t>
            </a:r>
            <a:endParaRPr lang="en-US" sz="1250" dirty="0"/>
          </a:p>
        </p:txBody>
      </p:sp>
      <p:pic>
        <p:nvPicPr>
          <p:cNvPr id="14" name="Image 0" descr="shots/mywork.png">    </p:cNvPr>
          <p:cNvPicPr>
            <a:picLocks noChangeAspect="1"/>
          </p:cNvPicPr>
          <p:nvPr/>
        </p:nvPicPr>
        <p:blipFill>
          <a:blip r:embed="rId1"/>
          <a:stretch>
            <a:fillRect/>
          </a:stretch>
        </p:blipFill>
        <p:spPr>
          <a:xfrm>
            <a:off x="548640" y="960120"/>
            <a:ext cx="5029200" cy="3172968"/>
          </a:xfrm>
          <a:prstGeom prst="rect">
            <a:avLst/>
          </a:prstGeom>
          <a:effectLst>
            <a:outerShdw sx="100000" sy="100000" kx="0" ky="0" algn="bl" rotWithShape="0" blurRad="127000" dist="50800" dir="5400000">
              <a:srgbClr val="0A0E0B">
                <a:alpha val="28000"/>
              </a:srgbClr>
            </a:outerShdw>
          </a:effectLst>
        </p:spPr>
      </p:pic>
      <p:sp>
        <p:nvSpPr>
          <p:cNvPr id="15" name="Shape 12"/>
          <p:cNvSpPr/>
          <p:nvPr/>
        </p:nvSpPr>
        <p:spPr>
          <a:xfrm>
            <a:off x="548640" y="960120"/>
            <a:ext cx="5029200" cy="3172968"/>
          </a:xfrm>
          <a:prstGeom prst="rect">
            <a:avLst/>
          </a:prstGeom>
          <a:ln w="12700">
            <a:solidFill>
              <a:srgbClr val="D7DCD1"/>
            </a:solidFill>
            <a:prstDash val="solid"/>
          </a:ln>
        </p:spPr>
      </p:sp>
      <p:sp>
        <p:nvSpPr>
          <p:cNvPr id="16" name="Text 1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1C"/>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4FD8B0"/>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4FD8B0"/>
                </a:solidFill>
                <a:latin typeface="Calibri" pitchFamily="34" charset="0"/>
                <a:ea typeface="Calibri" pitchFamily="34" charset="-122"/>
                <a:cs typeface="Calibri" pitchFamily="34" charset="-120"/>
              </a:rPr>
              <a:t>THE CENTERPIECE</a:t>
            </a:r>
            <a:endParaRPr lang="en-US" sz="1200" dirty="0"/>
          </a:p>
        </p:txBody>
      </p:sp>
      <p:sp>
        <p:nvSpPr>
          <p:cNvPr id="4" name="Text 2"/>
          <p:cNvSpPr txBox="1"/>
          <p:nvPr/>
        </p:nvSpPr>
        <p:spPr>
          <a:xfrm>
            <a:off x="548640" y="914400"/>
            <a:ext cx="1060704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AI Impact Lab: three steps to a real answer.</a:t>
            </a:r>
            <a:endParaRPr lang="en-US" sz="2800" dirty="0"/>
          </a:p>
        </p:txBody>
      </p:sp>
      <p:sp>
        <p:nvSpPr>
          <p:cNvPr id="5" name="Shape 3"/>
          <p:cNvSpPr/>
          <p:nvPr/>
        </p:nvSpPr>
        <p:spPr>
          <a:xfrm>
            <a:off x="548640" y="1965960"/>
            <a:ext cx="3429000" cy="2331720"/>
          </a:xfrm>
          <a:prstGeom prst="rect">
            <a:avLst/>
          </a:prstGeom>
          <a:solidFill>
            <a:srgbClr val="1C231F"/>
          </a:solidFill>
          <a:ln w="12700">
            <a:solidFill>
              <a:srgbClr val="2A342F"/>
            </a:solidFill>
            <a:prstDash val="solid"/>
          </a:ln>
        </p:spPr>
      </p:sp>
      <p:sp>
        <p:nvSpPr>
          <p:cNvPr id="6" name="Text 4"/>
          <p:cNvSpPr txBox="1"/>
          <p:nvPr/>
        </p:nvSpPr>
        <p:spPr>
          <a:xfrm>
            <a:off x="804672" y="2148840"/>
            <a:ext cx="731520" cy="640080"/>
          </a:xfrm>
          <a:prstGeom prst="rect">
            <a:avLst/>
          </a:prstGeom>
          <a:noFill/>
          <a:ln/>
        </p:spPr>
        <p:txBody>
          <a:bodyPr wrap="square" lIns="0" tIns="0" rIns="0" bIns="0" rtlCol="0" anchor="ctr"/>
          <a:lstStyle/>
          <a:p>
            <a:pPr indent="0" marL="0">
              <a:buNone/>
            </a:pPr>
            <a:r>
              <a:rPr lang="en-US" sz="3400" b="1" dirty="0">
                <a:solidFill>
                  <a:srgbClr val="4FD8B0"/>
                </a:solidFill>
                <a:latin typeface="Cambria" pitchFamily="34" charset="0"/>
                <a:ea typeface="Cambria" pitchFamily="34" charset="-122"/>
                <a:cs typeface="Cambria" pitchFamily="34" charset="-120"/>
              </a:rPr>
              <a:t>1</a:t>
            </a:r>
            <a:endParaRPr lang="en-US" sz="3400" dirty="0"/>
          </a:p>
        </p:txBody>
      </p:sp>
      <p:sp>
        <p:nvSpPr>
          <p:cNvPr id="7" name="Text 5"/>
          <p:cNvSpPr txBox="1"/>
          <p:nvPr/>
        </p:nvSpPr>
        <p:spPr>
          <a:xfrm>
            <a:off x="804672" y="2788920"/>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 the work twice</a:t>
            </a:r>
            <a:endParaRPr lang="en-US" sz="1500" dirty="0"/>
          </a:p>
        </p:txBody>
      </p:sp>
      <p:sp>
        <p:nvSpPr>
          <p:cNvPr id="8" name="Text 6"/>
          <p:cNvSpPr txBox="1"/>
          <p:nvPr/>
        </p:nvSpPr>
        <p:spPr>
          <a:xfrm>
            <a:off x="804672" y="3200400"/>
            <a:ext cx="2926080" cy="1005840"/>
          </a:xfrm>
          <a:prstGeom prst="rect">
            <a:avLst/>
          </a:prstGeom>
          <a:noFill/>
          <a:ln/>
        </p:spPr>
        <p:txBody>
          <a:bodyPr wrap="square" lIns="0" tIns="0" rIns="0" bIns="0" rtlCol="0" anchor="ctr"/>
          <a:lstStyle/>
          <a:p>
            <a:pPr indent="0" marL="0">
              <a:lnSpc>
                <a:spcPts val="1600"/>
              </a:lnSpc>
              <a:buNone/>
            </a:pPr>
            <a:r>
              <a:rPr lang="en-US" sz="1200" dirty="0">
                <a:solidFill>
                  <a:srgbClr val="9FB3A9"/>
                </a:solidFill>
                <a:latin typeface="Calibri" pitchFamily="34" charset="0"/>
                <a:ea typeface="Calibri" pitchFamily="34" charset="-122"/>
                <a:cs typeface="Calibri" pitchFamily="34" charset="-120"/>
              </a:rPr>
              <a:t>Once with AI helping, once without — same task, timed with a built-in stopwatch.</a:t>
            </a:r>
            <a:endParaRPr lang="en-US" sz="1200" dirty="0"/>
          </a:p>
        </p:txBody>
      </p:sp>
      <p:sp>
        <p:nvSpPr>
          <p:cNvPr id="9" name="Shape 7"/>
          <p:cNvSpPr/>
          <p:nvPr/>
        </p:nvSpPr>
        <p:spPr>
          <a:xfrm>
            <a:off x="4297680" y="1965960"/>
            <a:ext cx="3429000" cy="2331720"/>
          </a:xfrm>
          <a:prstGeom prst="rect">
            <a:avLst/>
          </a:prstGeom>
          <a:solidFill>
            <a:srgbClr val="1C231F"/>
          </a:solidFill>
          <a:ln w="12700">
            <a:solidFill>
              <a:srgbClr val="2A342F"/>
            </a:solidFill>
            <a:prstDash val="solid"/>
          </a:ln>
        </p:spPr>
      </p:sp>
      <p:sp>
        <p:nvSpPr>
          <p:cNvPr id="10" name="Text 8"/>
          <p:cNvSpPr txBox="1"/>
          <p:nvPr/>
        </p:nvSpPr>
        <p:spPr>
          <a:xfrm>
            <a:off x="4553712" y="2148840"/>
            <a:ext cx="731520" cy="640080"/>
          </a:xfrm>
          <a:prstGeom prst="rect">
            <a:avLst/>
          </a:prstGeom>
          <a:noFill/>
          <a:ln/>
        </p:spPr>
        <p:txBody>
          <a:bodyPr wrap="square" lIns="0" tIns="0" rIns="0" bIns="0" rtlCol="0" anchor="ctr"/>
          <a:lstStyle/>
          <a:p>
            <a:pPr indent="0" marL="0">
              <a:buNone/>
            </a:pPr>
            <a:r>
              <a:rPr lang="en-US" sz="3400" b="1" dirty="0">
                <a:solidFill>
                  <a:srgbClr val="4FD8B0"/>
                </a:solidFill>
                <a:latin typeface="Cambria" pitchFamily="34" charset="0"/>
                <a:ea typeface="Cambria" pitchFamily="34" charset="-122"/>
                <a:cs typeface="Cambria" pitchFamily="34" charset="-120"/>
              </a:rPr>
              <a:t>2</a:t>
            </a:r>
            <a:endParaRPr lang="en-US" sz="3400" dirty="0"/>
          </a:p>
        </p:txBody>
      </p:sp>
      <p:sp>
        <p:nvSpPr>
          <p:cNvPr id="11" name="Text 9"/>
          <p:cNvSpPr txBox="1"/>
          <p:nvPr/>
        </p:nvSpPr>
        <p:spPr>
          <a:xfrm>
            <a:off x="4553712" y="2788920"/>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Log time, defects, rework</a:t>
            </a:r>
            <a:endParaRPr lang="en-US" sz="1500" dirty="0"/>
          </a:p>
        </p:txBody>
      </p:sp>
      <p:sp>
        <p:nvSpPr>
          <p:cNvPr id="12" name="Text 10"/>
          <p:cNvSpPr txBox="1"/>
          <p:nvPr/>
        </p:nvSpPr>
        <p:spPr>
          <a:xfrm>
            <a:off x="4553712" y="3200400"/>
            <a:ext cx="2926080" cy="1005840"/>
          </a:xfrm>
          <a:prstGeom prst="rect">
            <a:avLst/>
          </a:prstGeom>
          <a:noFill/>
          <a:ln/>
        </p:spPr>
        <p:txBody>
          <a:bodyPr wrap="square" lIns="0" tIns="0" rIns="0" bIns="0" rtlCol="0" anchor="ctr"/>
          <a:lstStyle/>
          <a:p>
            <a:pPr indent="0" marL="0">
              <a:lnSpc>
                <a:spcPts val="1600"/>
              </a:lnSpc>
              <a:buNone/>
            </a:pPr>
            <a:r>
              <a:rPr lang="en-US" sz="1200" dirty="0">
                <a:solidFill>
                  <a:srgbClr val="9FB3A9"/>
                </a:solidFill>
                <a:latin typeface="Calibri" pitchFamily="34" charset="0"/>
                <a:ea typeface="Calibri" pitchFamily="34" charset="-122"/>
                <a:cs typeface="Calibri" pitchFamily="34" charset="-120"/>
              </a:rPr>
              <a:t>Real seconds elapsed, mistakes caught, and minutes spent fixing things after.</a:t>
            </a:r>
            <a:endParaRPr lang="en-US" sz="1200" dirty="0"/>
          </a:p>
        </p:txBody>
      </p:sp>
      <p:sp>
        <p:nvSpPr>
          <p:cNvPr id="13" name="Shape 11"/>
          <p:cNvSpPr/>
          <p:nvPr/>
        </p:nvSpPr>
        <p:spPr>
          <a:xfrm>
            <a:off x="8046720" y="1965960"/>
            <a:ext cx="3429000" cy="2331720"/>
          </a:xfrm>
          <a:prstGeom prst="rect">
            <a:avLst/>
          </a:prstGeom>
          <a:solidFill>
            <a:srgbClr val="1C231F"/>
          </a:solidFill>
          <a:ln w="12700">
            <a:solidFill>
              <a:srgbClr val="2A342F"/>
            </a:solidFill>
            <a:prstDash val="solid"/>
          </a:ln>
        </p:spPr>
      </p:sp>
      <p:sp>
        <p:nvSpPr>
          <p:cNvPr id="14" name="Text 12"/>
          <p:cNvSpPr txBox="1"/>
          <p:nvPr/>
        </p:nvSpPr>
        <p:spPr>
          <a:xfrm>
            <a:off x="8302752" y="2148840"/>
            <a:ext cx="731520" cy="640080"/>
          </a:xfrm>
          <a:prstGeom prst="rect">
            <a:avLst/>
          </a:prstGeom>
          <a:noFill/>
          <a:ln/>
        </p:spPr>
        <p:txBody>
          <a:bodyPr wrap="square" lIns="0" tIns="0" rIns="0" bIns="0" rtlCol="0" anchor="ctr"/>
          <a:lstStyle/>
          <a:p>
            <a:pPr indent="0" marL="0">
              <a:buNone/>
            </a:pPr>
            <a:r>
              <a:rPr lang="en-US" sz="3400" b="1" dirty="0">
                <a:solidFill>
                  <a:srgbClr val="4FD8B0"/>
                </a:solidFill>
                <a:latin typeface="Cambria" pitchFamily="34" charset="0"/>
                <a:ea typeface="Cambria" pitchFamily="34" charset="-122"/>
                <a:cs typeface="Cambria" pitchFamily="34" charset="-120"/>
              </a:rPr>
              <a:t>3</a:t>
            </a:r>
            <a:endParaRPr lang="en-US" sz="3400" dirty="0"/>
          </a:p>
        </p:txBody>
      </p:sp>
      <p:sp>
        <p:nvSpPr>
          <p:cNvPr id="15" name="Text 13"/>
          <p:cNvSpPr txBox="1"/>
          <p:nvPr/>
        </p:nvSpPr>
        <p:spPr>
          <a:xfrm>
            <a:off x="8302752" y="2788920"/>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Get a computed verdict</a:t>
            </a:r>
            <a:endParaRPr lang="en-US" sz="1500" dirty="0"/>
          </a:p>
        </p:txBody>
      </p:sp>
      <p:sp>
        <p:nvSpPr>
          <p:cNvPr id="16" name="Text 14"/>
          <p:cNvSpPr txBox="1"/>
          <p:nvPr/>
        </p:nvSpPr>
        <p:spPr>
          <a:xfrm>
            <a:off x="8302752" y="3200400"/>
            <a:ext cx="2926080" cy="1005840"/>
          </a:xfrm>
          <a:prstGeom prst="rect">
            <a:avLst/>
          </a:prstGeom>
          <a:noFill/>
          <a:ln/>
        </p:spPr>
        <p:txBody>
          <a:bodyPr wrap="square" lIns="0" tIns="0" rIns="0" bIns="0" rtlCol="0" anchor="ctr"/>
          <a:lstStyle/>
          <a:p>
            <a:pPr indent="0" marL="0">
              <a:lnSpc>
                <a:spcPts val="1600"/>
              </a:lnSpc>
              <a:buNone/>
            </a:pPr>
            <a:r>
              <a:rPr lang="en-US" sz="1200" dirty="0">
                <a:solidFill>
                  <a:srgbClr val="9FB3A9"/>
                </a:solidFill>
                <a:latin typeface="Calibri" pitchFamily="34" charset="0"/>
                <a:ea typeface="Calibri" pitchFamily="34" charset="-122"/>
                <a:cs typeface="Calibri" pitchFamily="34" charset="-120"/>
              </a:rPr>
              <a:t>The app derives the answer from the numbers you logged — it never assumes AI wins.</a:t>
            </a:r>
            <a:endParaRPr lang="en-US" sz="1200" dirty="0"/>
          </a:p>
        </p:txBody>
      </p:sp>
      <p:pic>
        <p:nvPicPr>
          <p:cNvPr id="17" name="Image 0" descr="shots/lab_banner.png">    </p:cNvPr>
          <p:cNvPicPr>
            <a:picLocks noChangeAspect="1"/>
          </p:cNvPicPr>
          <p:nvPr/>
        </p:nvPicPr>
        <p:blipFill>
          <a:blip r:embed="rId1"/>
          <a:stretch>
            <a:fillRect/>
          </a:stretch>
        </p:blipFill>
        <p:spPr>
          <a:xfrm>
            <a:off x="2958493" y="4526280"/>
            <a:ext cx="6274709" cy="1874520"/>
          </a:xfrm>
          <a:prstGeom prst="rect">
            <a:avLst/>
          </a:prstGeom>
          <a:effectLst>
            <a:outerShdw sx="100000" sy="100000" kx="0" ky="0" algn="bl" rotWithShape="0" blurRad="127000" dist="50800" dir="5400000">
              <a:srgbClr val="0A0E0B">
                <a:alpha val="28000"/>
              </a:srgbClr>
            </a:outerShdw>
          </a:effectLst>
        </p:spPr>
      </p:pic>
      <p:sp>
        <p:nvSpPr>
          <p:cNvPr id="18" name="Shape 15"/>
          <p:cNvSpPr/>
          <p:nvPr/>
        </p:nvSpPr>
        <p:spPr>
          <a:xfrm>
            <a:off x="2958493" y="4526280"/>
            <a:ext cx="6274709" cy="1874520"/>
          </a:xfrm>
          <a:prstGeom prst="rect">
            <a:avLst/>
          </a:prstGeom>
          <a:ln w="12700">
            <a:solidFill>
              <a:srgbClr val="D7DCD1"/>
            </a:solidFill>
            <a:prstDash val="solid"/>
          </a:ln>
        </p:spPr>
      </p:sp>
      <p:sp>
        <p:nvSpPr>
          <p:cNvPr id="19" name="Text 16"/>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20" name="Text 1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THIS IS NOT A MOCKUP</a:t>
            </a:r>
            <a:endParaRPr lang="en-US" sz="1200" dirty="0"/>
          </a:p>
        </p:txBody>
      </p:sp>
      <p:sp>
        <p:nvSpPr>
          <p:cNvPr id="4" name="Text 2"/>
          <p:cNvSpPr txBox="1"/>
          <p:nvPr/>
        </p:nvSpPr>
        <p:spPr>
          <a:xfrm>
            <a:off x="548640" y="914400"/>
            <a:ext cx="10607040" cy="640080"/>
          </a:xfrm>
          <a:prstGeom prst="rect">
            <a:avLst/>
          </a:prstGeom>
          <a:noFill/>
          <a:ln/>
        </p:spPr>
        <p:txBody>
          <a:bodyPr wrap="square" lIns="0" tIns="0" rIns="0" bIns="0" rtlCol="0" anchor="ctr"/>
          <a:lstStyle/>
          <a:p>
            <a:pPr indent="0" marL="0">
              <a:buNone/>
            </a:pPr>
            <a:r>
              <a:rPr lang="en-US" sz="2400" b="1" dirty="0">
                <a:solidFill>
                  <a:srgbClr val="16201C"/>
                </a:solidFill>
                <a:latin typeface="Cambria" pitchFamily="34" charset="0"/>
                <a:ea typeface="Cambria" pitchFamily="34" charset="-122"/>
                <a:cs typeface="Cambria" pitchFamily="34" charset="-120"/>
              </a:rPr>
              <a:t>A real logged demo run: 56% faster, fewer defects.</a:t>
            </a:r>
            <a:endParaRPr lang="en-US" sz="2400" dirty="0"/>
          </a:p>
        </p:txBody>
      </p:sp>
      <p:sp>
        <p:nvSpPr>
          <p:cNvPr id="5" name="Text 3"/>
          <p:cNvSpPr txBox="1"/>
          <p:nvPr/>
        </p:nvSpPr>
        <p:spPr>
          <a:xfrm>
            <a:off x="548640" y="1481328"/>
            <a:ext cx="10607040" cy="457200"/>
          </a:xfrm>
          <a:prstGeom prst="rect">
            <a:avLst/>
          </a:prstGeom>
          <a:noFill/>
          <a:ln/>
        </p:spPr>
        <p:txBody>
          <a:bodyPr wrap="square" lIns="0" tIns="0" rIns="0" bIns="0" rtlCol="0" anchor="ctr"/>
          <a:lstStyle/>
          <a:p>
            <a:pPr indent="0" marL="0">
              <a:buNone/>
            </a:pPr>
            <a:r>
              <a:rPr lang="en-US" sz="1250" dirty="0">
                <a:solidFill>
                  <a:srgbClr val="5B6960"/>
                </a:solidFill>
                <a:latin typeface="Calibri" pitchFamily="34" charset="0"/>
                <a:ea typeface="Calibri" pitchFamily="34" charset="-122"/>
                <a:cs typeface="Calibri" pitchFamily="34" charset="-120"/>
              </a:rPr>
              <a:t>Six runs of the same task ("write a project status update"), three per mode. The scorecard, chart and raw log below are computed live from that data.</a:t>
            </a:r>
            <a:endParaRPr lang="en-US" sz="1250" dirty="0"/>
          </a:p>
        </p:txBody>
      </p:sp>
      <p:pic>
        <p:nvPicPr>
          <p:cNvPr id="6" name="Image 0" descr="shots/lab_full.png">    </p:cNvPr>
          <p:cNvPicPr>
            <a:picLocks noChangeAspect="1"/>
          </p:cNvPicPr>
          <p:nvPr/>
        </p:nvPicPr>
        <p:blipFill>
          <a:blip r:embed="rId1"/>
          <a:stretch>
            <a:fillRect/>
          </a:stretch>
        </p:blipFill>
        <p:spPr>
          <a:xfrm>
            <a:off x="3743044" y="2011680"/>
            <a:ext cx="4705608" cy="4343400"/>
          </a:xfrm>
          <a:prstGeom prst="rect">
            <a:avLst/>
          </a:prstGeom>
          <a:effectLst>
            <a:outerShdw sx="100000" sy="100000" kx="0" ky="0" algn="bl" rotWithShape="0" blurRad="127000" dist="50800" dir="5400000">
              <a:srgbClr val="0A0E0B">
                <a:alpha val="28000"/>
              </a:srgbClr>
            </a:outerShdw>
          </a:effectLst>
        </p:spPr>
      </p:pic>
      <p:sp>
        <p:nvSpPr>
          <p:cNvPr id="7" name="Shape 4"/>
          <p:cNvSpPr/>
          <p:nvPr/>
        </p:nvSpPr>
        <p:spPr>
          <a:xfrm>
            <a:off x="3743044" y="2011680"/>
            <a:ext cx="4705608" cy="4343400"/>
          </a:xfrm>
          <a:prstGeom prst="rect">
            <a:avLst/>
          </a:prstGeom>
          <a:ln w="12700">
            <a:solidFill>
              <a:srgbClr val="D7DCD1"/>
            </a:solidFill>
            <a:prstDash val="solid"/>
          </a:ln>
        </p:spPr>
      </p:sp>
      <p:sp>
        <p:nvSpPr>
          <p:cNvPr id="8" name="Text 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9" name="Text 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1"/>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WHY TRUST THE NUMBER</a:t>
            </a:r>
            <a:endParaRPr lang="en-US" sz="1200" dirty="0"/>
          </a:p>
        </p:txBody>
      </p:sp>
      <p:sp>
        <p:nvSpPr>
          <p:cNvPr id="4" name="Text 2"/>
          <p:cNvSpPr txBox="1"/>
          <p:nvPr/>
        </p:nvSpPr>
        <p:spPr>
          <a:xfrm>
            <a:off x="548640" y="914400"/>
            <a:ext cx="10515600" cy="731520"/>
          </a:xfrm>
          <a:prstGeom prst="rect">
            <a:avLst/>
          </a:prstGeom>
          <a:noFill/>
          <a:ln/>
        </p:spPr>
        <p:txBody>
          <a:bodyPr wrap="square" lIns="0" tIns="0" rIns="0" bIns="0" rtlCol="0" anchor="ctr"/>
          <a:lstStyle/>
          <a:p>
            <a:pPr indent="0" marL="0">
              <a:buNone/>
            </a:pPr>
            <a:r>
              <a:rPr lang="en-US" sz="2800" b="1" dirty="0">
                <a:solidFill>
                  <a:srgbClr val="16201C"/>
                </a:solidFill>
                <a:latin typeface="Cambria" pitchFamily="34" charset="0"/>
                <a:ea typeface="Cambria" pitchFamily="34" charset="-122"/>
                <a:cs typeface="Cambria" pitchFamily="34" charset="-120"/>
              </a:rPr>
              <a:t>Built to be argued with, not just believed.</a:t>
            </a:r>
            <a:endParaRPr lang="en-US" sz="2800" dirty="0"/>
          </a:p>
        </p:txBody>
      </p:sp>
      <p:sp>
        <p:nvSpPr>
          <p:cNvPr id="5" name="Shape 3"/>
          <p:cNvSpPr/>
          <p:nvPr/>
        </p:nvSpPr>
        <p:spPr>
          <a:xfrm>
            <a:off x="548640" y="1874520"/>
            <a:ext cx="5120640" cy="1691640"/>
          </a:xfrm>
          <a:prstGeom prst="rect">
            <a:avLst/>
          </a:prstGeom>
          <a:solidFill>
            <a:srgbClr val="FFFFFF"/>
          </a:solidFill>
          <a:ln w="12700">
            <a:solidFill>
              <a:srgbClr val="D7DCD1"/>
            </a:solidFill>
            <a:prstDash val="solid"/>
          </a:ln>
        </p:spPr>
      </p:sp>
      <p:sp>
        <p:nvSpPr>
          <p:cNvPr id="6" name="Shape 4"/>
          <p:cNvSpPr/>
          <p:nvPr/>
        </p:nvSpPr>
        <p:spPr>
          <a:xfrm>
            <a:off x="822960" y="2148840"/>
            <a:ext cx="502920" cy="502920"/>
          </a:xfrm>
          <a:prstGeom prst="ellipse">
            <a:avLst/>
          </a:prstGeom>
          <a:solidFill>
            <a:srgbClr val="E9EDF1"/>
          </a:solidFill>
          <a:ln/>
        </p:spPr>
      </p:sp>
      <p:sp>
        <p:nvSpPr>
          <p:cNvPr id="7" name="Text 5"/>
          <p:cNvSpPr txBox="1"/>
          <p:nvPr/>
        </p:nvSpPr>
        <p:spPr>
          <a:xfrm>
            <a:off x="822960" y="2139696"/>
            <a:ext cx="502920" cy="502920"/>
          </a:xfrm>
          <a:prstGeom prst="rect">
            <a:avLst/>
          </a:prstGeom>
          <a:noFill/>
          <a:ln/>
        </p:spPr>
        <p:txBody>
          <a:bodyPr wrap="square" lIns="0" tIns="0" rIns="0" bIns="0" rtlCol="0" anchor="ctr"/>
          <a:lstStyle/>
          <a:p>
            <a:pPr algn="ctr" indent="0" marL="0">
              <a:buNone/>
            </a:pPr>
            <a:r>
              <a:rPr lang="en-US" sz="1815" b="1" dirty="0">
                <a:solidFill>
                  <a:srgbClr val="46586B"/>
                </a:solidFill>
                <a:latin typeface="Calibri" pitchFamily="34" charset="0"/>
                <a:ea typeface="Calibri" pitchFamily="34" charset="-122"/>
                <a:cs typeface="Calibri" pitchFamily="34" charset="-120"/>
              </a:rPr>
              <a:t>◆</a:t>
            </a:r>
            <a:endParaRPr lang="en-US" sz="1815" dirty="0"/>
          </a:p>
        </p:txBody>
      </p:sp>
      <p:sp>
        <p:nvSpPr>
          <p:cNvPr id="8" name="Text 6"/>
          <p:cNvSpPr txBox="1"/>
          <p:nvPr/>
        </p:nvSpPr>
        <p:spPr>
          <a:xfrm>
            <a:off x="1508760" y="2093976"/>
            <a:ext cx="3931920" cy="365760"/>
          </a:xfrm>
          <a:prstGeom prst="rect">
            <a:avLst/>
          </a:prstGeom>
          <a:noFill/>
          <a:ln/>
        </p:spPr>
        <p:txBody>
          <a:bodyPr wrap="square" lIns="0" tIns="0" rIns="0" bIns="0" rtlCol="0" anchor="ctr"/>
          <a:lstStyle/>
          <a:p>
            <a:pPr indent="0" marL="0">
              <a:buNone/>
            </a:pPr>
            <a:r>
              <a:rPr lang="en-US" sz="1450" b="1" dirty="0">
                <a:solidFill>
                  <a:srgbClr val="16201C"/>
                </a:solidFill>
                <a:latin typeface="Calibri" pitchFamily="34" charset="0"/>
                <a:ea typeface="Calibri" pitchFamily="34" charset="-122"/>
                <a:cs typeface="Calibri" pitchFamily="34" charset="-120"/>
              </a:rPr>
              <a:t>Effective time, not just speed</a:t>
            </a:r>
            <a:endParaRPr lang="en-US" sz="1450" dirty="0"/>
          </a:p>
        </p:txBody>
      </p:sp>
      <p:sp>
        <p:nvSpPr>
          <p:cNvPr id="9" name="Text 7"/>
          <p:cNvSpPr txBox="1"/>
          <p:nvPr/>
        </p:nvSpPr>
        <p:spPr>
          <a:xfrm>
            <a:off x="1508760" y="2478024"/>
            <a:ext cx="3931920" cy="91440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Time + rework minutes combined, so a fast-but-sloppy run can’t look better than it is.</a:t>
            </a:r>
            <a:endParaRPr lang="en-US" sz="1200" dirty="0"/>
          </a:p>
        </p:txBody>
      </p:sp>
      <p:sp>
        <p:nvSpPr>
          <p:cNvPr id="10" name="Shape 8"/>
          <p:cNvSpPr/>
          <p:nvPr/>
        </p:nvSpPr>
        <p:spPr>
          <a:xfrm>
            <a:off x="5989320" y="1874520"/>
            <a:ext cx="5120640" cy="1691640"/>
          </a:xfrm>
          <a:prstGeom prst="rect">
            <a:avLst/>
          </a:prstGeom>
          <a:solidFill>
            <a:srgbClr val="FFFFFF"/>
          </a:solidFill>
          <a:ln w="12700">
            <a:solidFill>
              <a:srgbClr val="D7DCD1"/>
            </a:solidFill>
            <a:prstDash val="solid"/>
          </a:ln>
        </p:spPr>
      </p:sp>
      <p:sp>
        <p:nvSpPr>
          <p:cNvPr id="11" name="Shape 9"/>
          <p:cNvSpPr/>
          <p:nvPr/>
        </p:nvSpPr>
        <p:spPr>
          <a:xfrm>
            <a:off x="6263640" y="2148840"/>
            <a:ext cx="502920" cy="502920"/>
          </a:xfrm>
          <a:prstGeom prst="ellipse">
            <a:avLst/>
          </a:prstGeom>
          <a:solidFill>
            <a:srgbClr val="E9EDF1"/>
          </a:solidFill>
          <a:ln/>
        </p:spPr>
      </p:sp>
      <p:sp>
        <p:nvSpPr>
          <p:cNvPr id="12" name="Text 10"/>
          <p:cNvSpPr txBox="1"/>
          <p:nvPr/>
        </p:nvSpPr>
        <p:spPr>
          <a:xfrm>
            <a:off x="6263640" y="2139696"/>
            <a:ext cx="502920" cy="502920"/>
          </a:xfrm>
          <a:prstGeom prst="rect">
            <a:avLst/>
          </a:prstGeom>
          <a:noFill/>
          <a:ln/>
        </p:spPr>
        <p:txBody>
          <a:bodyPr wrap="square" lIns="0" tIns="0" rIns="0" bIns="0" rtlCol="0" anchor="ctr"/>
          <a:lstStyle/>
          <a:p>
            <a:pPr algn="ctr" indent="0" marL="0">
              <a:buNone/>
            </a:pPr>
            <a:r>
              <a:rPr lang="en-US" sz="1815" b="1" dirty="0">
                <a:solidFill>
                  <a:srgbClr val="46586B"/>
                </a:solidFill>
                <a:latin typeface="Calibri" pitchFamily="34" charset="0"/>
                <a:ea typeface="Calibri" pitchFamily="34" charset="-122"/>
                <a:cs typeface="Calibri" pitchFamily="34" charset="-120"/>
              </a:rPr>
              <a:t>↔</a:t>
            </a:r>
            <a:endParaRPr lang="en-US" sz="1815" dirty="0"/>
          </a:p>
        </p:txBody>
      </p:sp>
      <p:sp>
        <p:nvSpPr>
          <p:cNvPr id="13" name="Text 11"/>
          <p:cNvSpPr txBox="1"/>
          <p:nvPr/>
        </p:nvSpPr>
        <p:spPr>
          <a:xfrm>
            <a:off x="6949440" y="2093976"/>
            <a:ext cx="3931920" cy="365760"/>
          </a:xfrm>
          <a:prstGeom prst="rect">
            <a:avLst/>
          </a:prstGeom>
          <a:noFill/>
          <a:ln/>
        </p:spPr>
        <p:txBody>
          <a:bodyPr wrap="square" lIns="0" tIns="0" rIns="0" bIns="0" rtlCol="0" anchor="ctr"/>
          <a:lstStyle/>
          <a:p>
            <a:pPr indent="0" marL="0">
              <a:buNone/>
            </a:pPr>
            <a:r>
              <a:rPr lang="en-US" sz="1450" b="1" dirty="0">
                <a:solidFill>
                  <a:srgbClr val="16201C"/>
                </a:solidFill>
                <a:latin typeface="Calibri" pitchFamily="34" charset="0"/>
                <a:ea typeface="Calibri" pitchFamily="34" charset="-122"/>
                <a:cs typeface="Calibri" pitchFamily="34" charset="-120"/>
              </a:rPr>
              <a:t>Can report a manual win</a:t>
            </a:r>
            <a:endParaRPr lang="en-US" sz="1450" dirty="0"/>
          </a:p>
        </p:txBody>
      </p:sp>
      <p:sp>
        <p:nvSpPr>
          <p:cNvPr id="14" name="Text 12"/>
          <p:cNvSpPr txBox="1"/>
          <p:nvPr/>
        </p:nvSpPr>
        <p:spPr>
          <a:xfrm>
            <a:off x="6949440" y="2478024"/>
            <a:ext cx="3931920" cy="91440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The verdict logic isn’t scripted to favor AI — it says so plainly when manual work wins.</a:t>
            </a:r>
            <a:endParaRPr lang="en-US" sz="1200" dirty="0"/>
          </a:p>
        </p:txBody>
      </p:sp>
      <p:sp>
        <p:nvSpPr>
          <p:cNvPr id="15" name="Shape 13"/>
          <p:cNvSpPr/>
          <p:nvPr/>
        </p:nvSpPr>
        <p:spPr>
          <a:xfrm>
            <a:off x="548640" y="3886200"/>
            <a:ext cx="5120640" cy="1691640"/>
          </a:xfrm>
          <a:prstGeom prst="rect">
            <a:avLst/>
          </a:prstGeom>
          <a:solidFill>
            <a:srgbClr val="FFFFFF"/>
          </a:solidFill>
          <a:ln w="12700">
            <a:solidFill>
              <a:srgbClr val="D7DCD1"/>
            </a:solidFill>
            <a:prstDash val="solid"/>
          </a:ln>
        </p:spPr>
      </p:sp>
      <p:sp>
        <p:nvSpPr>
          <p:cNvPr id="16" name="Shape 14"/>
          <p:cNvSpPr/>
          <p:nvPr/>
        </p:nvSpPr>
        <p:spPr>
          <a:xfrm>
            <a:off x="822960" y="4160520"/>
            <a:ext cx="502920" cy="502920"/>
          </a:xfrm>
          <a:prstGeom prst="ellipse">
            <a:avLst/>
          </a:prstGeom>
          <a:solidFill>
            <a:srgbClr val="E9EDF1"/>
          </a:solidFill>
          <a:ln/>
        </p:spPr>
      </p:sp>
      <p:sp>
        <p:nvSpPr>
          <p:cNvPr id="17" name="Text 15"/>
          <p:cNvSpPr txBox="1"/>
          <p:nvPr/>
        </p:nvSpPr>
        <p:spPr>
          <a:xfrm>
            <a:off x="822960" y="4151376"/>
            <a:ext cx="502920" cy="502920"/>
          </a:xfrm>
          <a:prstGeom prst="rect">
            <a:avLst/>
          </a:prstGeom>
          <a:noFill/>
          <a:ln/>
        </p:spPr>
        <p:txBody>
          <a:bodyPr wrap="square" lIns="0" tIns="0" rIns="0" bIns="0" rtlCol="0" anchor="ctr"/>
          <a:lstStyle/>
          <a:p>
            <a:pPr algn="ctr" indent="0" marL="0">
              <a:buNone/>
            </a:pPr>
            <a:r>
              <a:rPr lang="en-US" sz="1815" b="1" dirty="0">
                <a:solidFill>
                  <a:srgbClr val="46586B"/>
                </a:solidFill>
                <a:latin typeface="Calibri" pitchFamily="34" charset="0"/>
                <a:ea typeface="Calibri" pitchFamily="34" charset="-122"/>
                <a:cs typeface="Calibri" pitchFamily="34" charset="-120"/>
              </a:rPr>
              <a:t>●</a:t>
            </a:r>
            <a:endParaRPr lang="en-US" sz="1815" dirty="0"/>
          </a:p>
        </p:txBody>
      </p:sp>
      <p:sp>
        <p:nvSpPr>
          <p:cNvPr id="18" name="Text 16"/>
          <p:cNvSpPr txBox="1"/>
          <p:nvPr/>
        </p:nvSpPr>
        <p:spPr>
          <a:xfrm>
            <a:off x="1508760" y="4105656"/>
            <a:ext cx="3931920" cy="365760"/>
          </a:xfrm>
          <a:prstGeom prst="rect">
            <a:avLst/>
          </a:prstGeom>
          <a:noFill/>
          <a:ln/>
        </p:spPr>
        <p:txBody>
          <a:bodyPr wrap="square" lIns="0" tIns="0" rIns="0" bIns="0" rtlCol="0" anchor="ctr"/>
          <a:lstStyle/>
          <a:p>
            <a:pPr indent="0" marL="0">
              <a:buNone/>
            </a:pPr>
            <a:r>
              <a:rPr lang="en-US" sz="1450" b="1" dirty="0">
                <a:solidFill>
                  <a:srgbClr val="16201C"/>
                </a:solidFill>
                <a:latin typeface="Calibri" pitchFamily="34" charset="0"/>
                <a:ea typeface="Calibri" pitchFamily="34" charset="-122"/>
                <a:cs typeface="Calibri" pitchFamily="34" charset="-120"/>
              </a:rPr>
              <a:t>Flags a thin sample</a:t>
            </a:r>
            <a:endParaRPr lang="en-US" sz="1450" dirty="0"/>
          </a:p>
        </p:txBody>
      </p:sp>
      <p:sp>
        <p:nvSpPr>
          <p:cNvPr id="19" name="Text 17"/>
          <p:cNvSpPr txBox="1"/>
          <p:nvPr/>
        </p:nvSpPr>
        <p:spPr>
          <a:xfrm>
            <a:off x="1508760" y="4489704"/>
            <a:ext cx="3931920" cy="91440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Fewer than 3 runs per mode? It tells you outright instead of overstating confidence.</a:t>
            </a:r>
            <a:endParaRPr lang="en-US" sz="1200" dirty="0"/>
          </a:p>
        </p:txBody>
      </p:sp>
      <p:sp>
        <p:nvSpPr>
          <p:cNvPr id="20" name="Shape 18"/>
          <p:cNvSpPr/>
          <p:nvPr/>
        </p:nvSpPr>
        <p:spPr>
          <a:xfrm>
            <a:off x="5989320" y="3886200"/>
            <a:ext cx="5120640" cy="1691640"/>
          </a:xfrm>
          <a:prstGeom prst="rect">
            <a:avLst/>
          </a:prstGeom>
          <a:solidFill>
            <a:srgbClr val="FFFFFF"/>
          </a:solidFill>
          <a:ln w="12700">
            <a:solidFill>
              <a:srgbClr val="D7DCD1"/>
            </a:solidFill>
            <a:prstDash val="solid"/>
          </a:ln>
        </p:spPr>
      </p:sp>
      <p:sp>
        <p:nvSpPr>
          <p:cNvPr id="21" name="Shape 19"/>
          <p:cNvSpPr/>
          <p:nvPr/>
        </p:nvSpPr>
        <p:spPr>
          <a:xfrm>
            <a:off x="6263640" y="4160520"/>
            <a:ext cx="502920" cy="502920"/>
          </a:xfrm>
          <a:prstGeom prst="ellipse">
            <a:avLst/>
          </a:prstGeom>
          <a:solidFill>
            <a:srgbClr val="E9EDF1"/>
          </a:solidFill>
          <a:ln/>
        </p:spPr>
      </p:sp>
      <p:sp>
        <p:nvSpPr>
          <p:cNvPr id="22" name="Text 20"/>
          <p:cNvSpPr txBox="1"/>
          <p:nvPr/>
        </p:nvSpPr>
        <p:spPr>
          <a:xfrm>
            <a:off x="6263640" y="4151376"/>
            <a:ext cx="502920" cy="502920"/>
          </a:xfrm>
          <a:prstGeom prst="rect">
            <a:avLst/>
          </a:prstGeom>
          <a:noFill/>
          <a:ln/>
        </p:spPr>
        <p:txBody>
          <a:bodyPr wrap="square" lIns="0" tIns="0" rIns="0" bIns="0" rtlCol="0" anchor="ctr"/>
          <a:lstStyle/>
          <a:p>
            <a:pPr algn="ctr" indent="0" marL="0">
              <a:buNone/>
            </a:pPr>
            <a:r>
              <a:rPr lang="en-US" sz="1815" b="1" dirty="0">
                <a:solidFill>
                  <a:srgbClr val="46586B"/>
                </a:solidFill>
                <a:latin typeface="Calibri" pitchFamily="34" charset="0"/>
                <a:ea typeface="Calibri" pitchFamily="34" charset="-122"/>
                <a:cs typeface="Calibri" pitchFamily="34" charset="-120"/>
              </a:rPr>
              <a:t>↓</a:t>
            </a:r>
            <a:endParaRPr lang="en-US" sz="1815" dirty="0"/>
          </a:p>
        </p:txBody>
      </p:sp>
      <p:sp>
        <p:nvSpPr>
          <p:cNvPr id="23" name="Text 21"/>
          <p:cNvSpPr txBox="1"/>
          <p:nvPr/>
        </p:nvSpPr>
        <p:spPr>
          <a:xfrm>
            <a:off x="6949440" y="4105656"/>
            <a:ext cx="3931920" cy="365760"/>
          </a:xfrm>
          <a:prstGeom prst="rect">
            <a:avLst/>
          </a:prstGeom>
          <a:noFill/>
          <a:ln/>
        </p:spPr>
        <p:txBody>
          <a:bodyPr wrap="square" lIns="0" tIns="0" rIns="0" bIns="0" rtlCol="0" anchor="ctr"/>
          <a:lstStyle/>
          <a:p>
            <a:pPr indent="0" marL="0">
              <a:buNone/>
            </a:pPr>
            <a:r>
              <a:rPr lang="en-US" sz="1450" b="1" dirty="0">
                <a:solidFill>
                  <a:srgbClr val="16201C"/>
                </a:solidFill>
                <a:latin typeface="Calibri" pitchFamily="34" charset="0"/>
                <a:ea typeface="Calibri" pitchFamily="34" charset="-122"/>
                <a:cs typeface="Calibri" pitchFamily="34" charset="-120"/>
              </a:rPr>
              <a:t>Raw data, exportable</a:t>
            </a:r>
            <a:endParaRPr lang="en-US" sz="1450" dirty="0"/>
          </a:p>
        </p:txBody>
      </p:sp>
      <p:sp>
        <p:nvSpPr>
          <p:cNvPr id="24" name="Text 22"/>
          <p:cNvSpPr txBox="1"/>
          <p:nvPr/>
        </p:nvSpPr>
        <p:spPr>
          <a:xfrm>
            <a:off x="6949440" y="4489704"/>
            <a:ext cx="3931920" cy="914400"/>
          </a:xfrm>
          <a:prstGeom prst="rect">
            <a:avLst/>
          </a:prstGeom>
          <a:noFill/>
          <a:ln/>
        </p:spPr>
        <p:txBody>
          <a:bodyPr wrap="square" lIns="0" tIns="0" rIns="0" bIns="0" rtlCol="0" anchor="ctr"/>
          <a:lstStyle/>
          <a:p>
            <a:pPr indent="0" marL="0">
              <a:lnSpc>
                <a:spcPts val="1600"/>
              </a:lnSpc>
              <a:buNone/>
            </a:pPr>
            <a:r>
              <a:rPr lang="en-US" sz="1200" dirty="0">
                <a:solidFill>
                  <a:srgbClr val="5B6960"/>
                </a:solidFill>
                <a:latin typeface="Calibri" pitchFamily="34" charset="0"/>
                <a:ea typeface="Calibri" pitchFamily="34" charset="-122"/>
                <a:cs typeface="Calibri" pitchFamily="34" charset="-120"/>
              </a:rPr>
              <a:t>Every run — task, mode, time, defects, rework, note — downloads as CSV for anyone to check.</a:t>
            </a:r>
            <a:endParaRPr lang="en-US" sz="1200" dirty="0"/>
          </a:p>
        </p:txBody>
      </p:sp>
      <p:sp>
        <p:nvSpPr>
          <p:cNvPr id="25" name="Text 2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26" name="Text 2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1F6E5C"/>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1F6E5C"/>
                </a:solidFill>
                <a:latin typeface="Calibri" pitchFamily="34" charset="0"/>
                <a:ea typeface="Calibri" pitchFamily="34" charset="-122"/>
                <a:cs typeface="Calibri" pitchFamily="34" charset="-120"/>
              </a:rPr>
              <a:t>UNDER THE HOOD</a:t>
            </a:r>
            <a:endParaRPr lang="en-US" sz="1200" dirty="0"/>
          </a:p>
        </p:txBody>
      </p:sp>
      <p:sp>
        <p:nvSpPr>
          <p:cNvPr id="4" name="Text 2"/>
          <p:cNvSpPr txBox="1"/>
          <p:nvPr/>
        </p:nvSpPr>
        <p:spPr>
          <a:xfrm>
            <a:off x="548640" y="914400"/>
            <a:ext cx="10515600" cy="731520"/>
          </a:xfrm>
          <a:prstGeom prst="rect">
            <a:avLst/>
          </a:prstGeom>
          <a:noFill/>
          <a:ln/>
        </p:spPr>
        <p:txBody>
          <a:bodyPr wrap="square" lIns="0" tIns="0" rIns="0" bIns="0" rtlCol="0" anchor="ctr"/>
          <a:lstStyle/>
          <a:p>
            <a:pPr indent="0" marL="0">
              <a:buNone/>
            </a:pPr>
            <a:r>
              <a:rPr lang="en-US" sz="2800" b="1" dirty="0">
                <a:solidFill>
                  <a:srgbClr val="16201C"/>
                </a:solidFill>
                <a:latin typeface="Cambria" pitchFamily="34" charset="0"/>
                <a:ea typeface="Cambria" pitchFamily="34" charset="-122"/>
                <a:cs typeface="Cambria" pitchFamily="34" charset="-120"/>
              </a:rPr>
              <a:t>One file. No install. No lock-in.</a:t>
            </a:r>
            <a:endParaRPr lang="en-US" sz="2800" dirty="0"/>
          </a:p>
        </p:txBody>
      </p:sp>
      <p:sp>
        <p:nvSpPr>
          <p:cNvPr id="5" name="Text 3"/>
          <p:cNvSpPr txBox="1"/>
          <p:nvPr/>
        </p:nvSpPr>
        <p:spPr>
          <a:xfrm>
            <a:off x="548640" y="1600200"/>
            <a:ext cx="10332720" cy="457200"/>
          </a:xfrm>
          <a:prstGeom prst="rect">
            <a:avLst/>
          </a:prstGeom>
          <a:noFill/>
          <a:ln/>
        </p:spPr>
        <p:txBody>
          <a:bodyPr wrap="square" lIns="0" tIns="0" rIns="0" bIns="0" rtlCol="0" anchor="ctr"/>
          <a:lstStyle/>
          <a:p>
            <a:pPr indent="0" marL="0">
              <a:buNone/>
            </a:pPr>
            <a:r>
              <a:rPr lang="en-US" sz="1350" dirty="0">
                <a:solidFill>
                  <a:srgbClr val="5B6960"/>
                </a:solidFill>
                <a:latin typeface="Calibri" pitchFamily="34" charset="0"/>
                <a:ea typeface="Calibri" pitchFamily="34" charset="-122"/>
                <a:cs typeface="Calibri" pitchFamily="34" charset="-120"/>
              </a:rPr>
              <a:t>A single self-contained HTML/CSS/JavaScript file — open it in any browser and it runs.</a:t>
            </a:r>
            <a:endParaRPr lang="en-US" sz="1350" dirty="0"/>
          </a:p>
        </p:txBody>
      </p:sp>
      <p:sp>
        <p:nvSpPr>
          <p:cNvPr id="6" name="Shape 4"/>
          <p:cNvSpPr/>
          <p:nvPr/>
        </p:nvSpPr>
        <p:spPr>
          <a:xfrm>
            <a:off x="548640" y="2331720"/>
            <a:ext cx="5120640" cy="1554480"/>
          </a:xfrm>
          <a:prstGeom prst="rect">
            <a:avLst/>
          </a:prstGeom>
          <a:solidFill>
            <a:srgbClr val="F3F5F1"/>
          </a:solidFill>
          <a:ln/>
        </p:spPr>
      </p:sp>
      <p:sp>
        <p:nvSpPr>
          <p:cNvPr id="7" name="Text 5"/>
          <p:cNvSpPr txBox="1"/>
          <p:nvPr/>
        </p:nvSpPr>
        <p:spPr>
          <a:xfrm>
            <a:off x="841248" y="2514600"/>
            <a:ext cx="4572000" cy="36576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Nothing to install</a:t>
            </a:r>
            <a:endParaRPr lang="en-US" sz="1500" dirty="0"/>
          </a:p>
        </p:txBody>
      </p:sp>
      <p:sp>
        <p:nvSpPr>
          <p:cNvPr id="8" name="Text 6"/>
          <p:cNvSpPr txBox="1"/>
          <p:nvPr/>
        </p:nvSpPr>
        <p:spPr>
          <a:xfrm>
            <a:off x="841248" y="2926080"/>
            <a:ext cx="4572000" cy="82296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No Python, no server, no build step — double-click the file.</a:t>
            </a:r>
            <a:endParaRPr lang="en-US" sz="1250" dirty="0"/>
          </a:p>
        </p:txBody>
      </p:sp>
      <p:sp>
        <p:nvSpPr>
          <p:cNvPr id="9" name="Shape 7"/>
          <p:cNvSpPr/>
          <p:nvPr/>
        </p:nvSpPr>
        <p:spPr>
          <a:xfrm>
            <a:off x="5989320" y="2331720"/>
            <a:ext cx="5120640" cy="1554480"/>
          </a:xfrm>
          <a:prstGeom prst="rect">
            <a:avLst/>
          </a:prstGeom>
          <a:solidFill>
            <a:srgbClr val="F3F5F1"/>
          </a:solidFill>
          <a:ln/>
        </p:spPr>
      </p:sp>
      <p:sp>
        <p:nvSpPr>
          <p:cNvPr id="10" name="Text 8"/>
          <p:cNvSpPr txBox="1"/>
          <p:nvPr/>
        </p:nvSpPr>
        <p:spPr>
          <a:xfrm>
            <a:off x="6281928" y="2514600"/>
            <a:ext cx="4572000" cy="36576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Local-first data</a:t>
            </a:r>
            <a:endParaRPr lang="en-US" sz="1500" dirty="0"/>
          </a:p>
        </p:txBody>
      </p:sp>
      <p:sp>
        <p:nvSpPr>
          <p:cNvPr id="11" name="Text 9"/>
          <p:cNvSpPr txBox="1"/>
          <p:nvPr/>
        </p:nvSpPr>
        <p:spPr>
          <a:xfrm>
            <a:off x="6281928" y="2926080"/>
            <a:ext cx="4572000" cy="82296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Tasks and logged runs are stored in the browser, private by default.</a:t>
            </a:r>
            <a:endParaRPr lang="en-US" sz="1250" dirty="0"/>
          </a:p>
        </p:txBody>
      </p:sp>
      <p:sp>
        <p:nvSpPr>
          <p:cNvPr id="12" name="Shape 10"/>
          <p:cNvSpPr/>
          <p:nvPr/>
        </p:nvSpPr>
        <p:spPr>
          <a:xfrm>
            <a:off x="548640" y="4160520"/>
            <a:ext cx="5120640" cy="1554480"/>
          </a:xfrm>
          <a:prstGeom prst="rect">
            <a:avLst/>
          </a:prstGeom>
          <a:solidFill>
            <a:srgbClr val="F3F5F1"/>
          </a:solidFill>
          <a:ln/>
        </p:spPr>
      </p:sp>
      <p:sp>
        <p:nvSpPr>
          <p:cNvPr id="13" name="Text 11"/>
          <p:cNvSpPr txBox="1"/>
          <p:nvPr/>
        </p:nvSpPr>
        <p:spPr>
          <a:xfrm>
            <a:off x="841248" y="4343400"/>
            <a:ext cx="4572000" cy="36576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Bring your own AI key</a:t>
            </a:r>
            <a:endParaRPr lang="en-US" sz="1500" dirty="0"/>
          </a:p>
        </p:txBody>
      </p:sp>
      <p:sp>
        <p:nvSpPr>
          <p:cNvPr id="14" name="Text 12"/>
          <p:cNvSpPr txBox="1"/>
          <p:nvPr/>
        </p:nvSpPr>
        <p:spPr>
          <a:xfrm>
            <a:off x="841248" y="4754880"/>
            <a:ext cx="4572000" cy="82296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Optional OpenAI key unlocks live AI text; the app never depends on it.</a:t>
            </a:r>
            <a:endParaRPr lang="en-US" sz="1250" dirty="0"/>
          </a:p>
        </p:txBody>
      </p:sp>
      <p:sp>
        <p:nvSpPr>
          <p:cNvPr id="15" name="Shape 13"/>
          <p:cNvSpPr/>
          <p:nvPr/>
        </p:nvSpPr>
        <p:spPr>
          <a:xfrm>
            <a:off x="5989320" y="4160520"/>
            <a:ext cx="5120640" cy="1554480"/>
          </a:xfrm>
          <a:prstGeom prst="rect">
            <a:avLst/>
          </a:prstGeom>
          <a:solidFill>
            <a:srgbClr val="F3F5F1"/>
          </a:solidFill>
          <a:ln/>
        </p:spPr>
      </p:sp>
      <p:sp>
        <p:nvSpPr>
          <p:cNvPr id="16" name="Text 14"/>
          <p:cNvSpPr txBox="1"/>
          <p:nvPr/>
        </p:nvSpPr>
        <p:spPr>
          <a:xfrm>
            <a:off x="6281928" y="4343400"/>
            <a:ext cx="4572000" cy="365760"/>
          </a:xfrm>
          <a:prstGeom prst="rect">
            <a:avLst/>
          </a:prstGeom>
          <a:noFill/>
          <a:ln/>
        </p:spPr>
        <p:txBody>
          <a:bodyPr wrap="square" lIns="0" tIns="0" rIns="0" bIns="0" rtlCol="0" anchor="ctr"/>
          <a:lstStyle/>
          <a:p>
            <a:pPr indent="0" marL="0">
              <a:buNone/>
            </a:pPr>
            <a:r>
              <a:rPr lang="en-US" sz="1500" b="1" dirty="0">
                <a:solidFill>
                  <a:srgbClr val="16201C"/>
                </a:solidFill>
                <a:latin typeface="Calibri" pitchFamily="34" charset="0"/>
                <a:ea typeface="Calibri" pitchFamily="34" charset="-122"/>
                <a:cs typeface="Calibri" pitchFamily="34" charset="-120"/>
              </a:rPr>
              <a:t>Works fully offline</a:t>
            </a:r>
            <a:endParaRPr lang="en-US" sz="1500" dirty="0"/>
          </a:p>
        </p:txBody>
      </p:sp>
      <p:sp>
        <p:nvSpPr>
          <p:cNvPr id="17" name="Text 15"/>
          <p:cNvSpPr txBox="1"/>
          <p:nvPr/>
        </p:nvSpPr>
        <p:spPr>
          <a:xfrm>
            <a:off x="6281928" y="4754880"/>
            <a:ext cx="4572000" cy="822960"/>
          </a:xfrm>
          <a:prstGeom prst="rect">
            <a:avLst/>
          </a:prstGeom>
          <a:noFill/>
          <a:ln/>
        </p:spPr>
        <p:txBody>
          <a:bodyPr wrap="square" lIns="0" tIns="0" rIns="0" bIns="0" rtlCol="0" anchor="ctr"/>
          <a:lstStyle/>
          <a:p>
            <a:pPr indent="0" marL="0">
              <a:lnSpc>
                <a:spcPts val="1600"/>
              </a:lnSpc>
              <a:buNone/>
            </a:pPr>
            <a:r>
              <a:rPr lang="en-US" sz="1250" dirty="0">
                <a:solidFill>
                  <a:srgbClr val="5B6960"/>
                </a:solidFill>
                <a:latin typeface="Calibri" pitchFamily="34" charset="0"/>
                <a:ea typeface="Calibri" pitchFamily="34" charset="-122"/>
                <a:cs typeface="Calibri" pitchFamily="34" charset="-120"/>
              </a:rPr>
              <a:t>Task management, decomposition and the Impact Lab all run without internet.</a:t>
            </a:r>
            <a:endParaRPr lang="en-US" sz="1250" dirty="0"/>
          </a:p>
        </p:txBody>
      </p:sp>
      <p:sp>
        <p:nvSpPr>
          <p:cNvPr id="18" name="Text 16"/>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5B6960"/>
                </a:solidFill>
                <a:latin typeface="Calibri" pitchFamily="34" charset="0"/>
                <a:ea typeface="Calibri" pitchFamily="34" charset="-122"/>
                <a:cs typeface="Calibri" pitchFamily="34" charset="-120"/>
              </a:rPr>
              <a:t>TaskPilot · AI Impact Lab</a:t>
            </a:r>
            <a:endParaRPr lang="en-US" sz="1000" dirty="0"/>
          </a:p>
        </p:txBody>
      </p:sp>
      <p:sp>
        <p:nvSpPr>
          <p:cNvPr id="19" name="Text 1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B696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1C"/>
        </a:solidFill>
      </p:bgPr>
    </p:bg>
    <p:spTree>
      <p:nvGrpSpPr>
        <p:cNvPr id="1" name=""/>
        <p:cNvGrpSpPr/>
        <p:nvPr/>
      </p:nvGrpSpPr>
      <p:grpSpPr>
        <a:xfrm>
          <a:off x="0" y="0"/>
          <a:ext cx="0" cy="0"/>
          <a:chOff x="0" y="0"/>
          <a:chExt cx="0" cy="0"/>
        </a:xfrm>
      </p:grpSpPr>
      <p:sp>
        <p:nvSpPr>
          <p:cNvPr id="2" name="Shape 0"/>
          <p:cNvSpPr/>
          <p:nvPr/>
        </p:nvSpPr>
        <p:spPr>
          <a:xfrm>
            <a:off x="548640" y="585216"/>
            <a:ext cx="100584" cy="100584"/>
          </a:xfrm>
          <a:prstGeom prst="ellipse">
            <a:avLst/>
          </a:prstGeom>
          <a:solidFill>
            <a:srgbClr val="4FD8B0"/>
          </a:solidFill>
          <a:ln/>
        </p:spPr>
      </p:sp>
      <p:sp>
        <p:nvSpPr>
          <p:cNvPr id="3" name="Text 1"/>
          <p:cNvSpPr txBox="1"/>
          <p:nvPr/>
        </p:nvSpPr>
        <p:spPr>
          <a:xfrm>
            <a:off x="768096" y="502920"/>
            <a:ext cx="5486400" cy="274320"/>
          </a:xfrm>
          <a:prstGeom prst="rect">
            <a:avLst/>
          </a:prstGeom>
          <a:noFill/>
          <a:ln/>
        </p:spPr>
        <p:txBody>
          <a:bodyPr wrap="square" lIns="0" tIns="0" rIns="0" bIns="0" rtlCol="0" anchor="ctr"/>
          <a:lstStyle/>
          <a:p>
            <a:pPr indent="0" marL="0">
              <a:buNone/>
            </a:pPr>
            <a:r>
              <a:rPr lang="en-US" sz="1200" b="1" spc="100" kern="0" dirty="0">
                <a:solidFill>
                  <a:srgbClr val="4FD8B0"/>
                </a:solidFill>
                <a:latin typeface="Calibri" pitchFamily="34" charset="0"/>
                <a:ea typeface="Calibri" pitchFamily="34" charset="-122"/>
                <a:cs typeface="Calibri" pitchFamily="34" charset="-120"/>
              </a:rPr>
              <a:t>TRY IT YOURSELVES</a:t>
            </a:r>
            <a:endParaRPr lang="en-US" sz="1200" dirty="0"/>
          </a:p>
        </p:txBody>
      </p:sp>
      <p:sp>
        <p:nvSpPr>
          <p:cNvPr id="4" name="Text 2"/>
          <p:cNvSpPr txBox="1"/>
          <p:nvPr/>
        </p:nvSpPr>
        <p:spPr>
          <a:xfrm>
            <a:off x="548640" y="1051560"/>
            <a:ext cx="10607040" cy="11887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Bring your own task. Log two runs. See your own number.</a:t>
            </a:r>
            <a:endParaRPr lang="en-US" sz="3000" dirty="0"/>
          </a:p>
        </p:txBody>
      </p:sp>
      <p:sp>
        <p:nvSpPr>
          <p:cNvPr id="5" name="Text 3"/>
          <p:cNvSpPr txBox="1"/>
          <p:nvPr/>
        </p:nvSpPr>
        <p:spPr>
          <a:xfrm>
            <a:off x="548640" y="2331720"/>
            <a:ext cx="8503920" cy="822960"/>
          </a:xfrm>
          <a:prstGeom prst="rect">
            <a:avLst/>
          </a:prstGeom>
          <a:noFill/>
          <a:ln/>
        </p:spPr>
        <p:txBody>
          <a:bodyPr wrap="square" lIns="0" tIns="0" rIns="0" bIns="0" rtlCol="0" anchor="ctr"/>
          <a:lstStyle/>
          <a:p>
            <a:pPr indent="0" marL="0">
              <a:lnSpc>
                <a:spcPts val="2100"/>
              </a:lnSpc>
              <a:buNone/>
            </a:pPr>
            <a:r>
              <a:rPr lang="en-US" sz="1500" dirty="0">
                <a:solidFill>
                  <a:srgbClr val="D7E4DE"/>
                </a:solidFill>
                <a:latin typeface="Calibri" pitchFamily="34" charset="0"/>
                <a:ea typeface="Calibri" pitchFamily="34" charset="-122"/>
                <a:cs typeface="Calibri" pitchFamily="34" charset="-120"/>
              </a:rPr>
              <a:t>Open the file, pick something small you’d do this week, run it once with AI and once without, and let the AI Impact Lab do the math in front of you.</a:t>
            </a:r>
            <a:endParaRPr lang="en-US" sz="1500" dirty="0"/>
          </a:p>
        </p:txBody>
      </p:sp>
      <p:sp>
        <p:nvSpPr>
          <p:cNvPr id="6" name="Shape 4"/>
          <p:cNvSpPr/>
          <p:nvPr/>
        </p:nvSpPr>
        <p:spPr>
          <a:xfrm>
            <a:off x="548640" y="3703320"/>
            <a:ext cx="2331720" cy="685800"/>
          </a:xfrm>
          <a:prstGeom prst="roundRect">
            <a:avLst>
              <a:gd name="adj" fmla="val 13333"/>
            </a:avLst>
          </a:prstGeom>
          <a:solidFill>
            <a:srgbClr val="1C231F"/>
          </a:solidFill>
          <a:ln w="12700">
            <a:solidFill>
              <a:srgbClr val="2A342F"/>
            </a:solidFill>
            <a:prstDash val="solid"/>
          </a:ln>
        </p:spPr>
      </p:sp>
      <p:sp>
        <p:nvSpPr>
          <p:cNvPr id="7" name="Text 5"/>
          <p:cNvSpPr txBox="1"/>
          <p:nvPr/>
        </p:nvSpPr>
        <p:spPr>
          <a:xfrm>
            <a:off x="548640" y="3703320"/>
            <a:ext cx="2331720" cy="685800"/>
          </a:xfrm>
          <a:prstGeom prst="rect">
            <a:avLst/>
          </a:prstGeom>
          <a:noFill/>
          <a:ln/>
        </p:spPr>
        <p:txBody>
          <a:bodyPr wrap="square" lIns="0" tIns="0" rIns="0" bIns="0" rtlCol="0" anchor="ctr"/>
          <a:lstStyle/>
          <a:p>
            <a:pPr algn="ctr" indent="0" marL="0">
              <a:buNone/>
            </a:pPr>
            <a:r>
              <a:rPr lang="en-US" sz="1250" b="1" dirty="0">
                <a:solidFill>
                  <a:srgbClr val="4FD8B0"/>
                </a:solidFill>
                <a:latin typeface="Calibri" pitchFamily="34" charset="0"/>
                <a:ea typeface="Calibri" pitchFamily="34" charset="-122"/>
                <a:cs typeface="Calibri" pitchFamily="34" charset="-120"/>
              </a:rPr>
              <a:t>1. Open taskpilot.html</a:t>
            </a:r>
            <a:endParaRPr lang="en-US" sz="1250" dirty="0"/>
          </a:p>
        </p:txBody>
      </p:sp>
      <p:sp>
        <p:nvSpPr>
          <p:cNvPr id="8" name="Text 6"/>
          <p:cNvSpPr txBox="1"/>
          <p:nvPr/>
        </p:nvSpPr>
        <p:spPr>
          <a:xfrm>
            <a:off x="2862072" y="3703320"/>
            <a:ext cx="219456" cy="685800"/>
          </a:xfrm>
          <a:prstGeom prst="rect">
            <a:avLst/>
          </a:prstGeom>
          <a:noFill/>
          <a:ln/>
        </p:spPr>
        <p:txBody>
          <a:bodyPr wrap="square" lIns="0" tIns="0" rIns="0" bIns="0" rtlCol="0" anchor="ctr"/>
          <a:lstStyle/>
          <a:p>
            <a:pPr algn="ctr" indent="0" marL="0">
              <a:buNone/>
            </a:pPr>
            <a:r>
              <a:rPr lang="en-US" sz="1600" dirty="0">
                <a:solidFill>
                  <a:srgbClr val="9FB3A9"/>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3063240" y="3703320"/>
            <a:ext cx="2331720" cy="685800"/>
          </a:xfrm>
          <a:prstGeom prst="roundRect">
            <a:avLst>
              <a:gd name="adj" fmla="val 13333"/>
            </a:avLst>
          </a:prstGeom>
          <a:solidFill>
            <a:srgbClr val="1C231F"/>
          </a:solidFill>
          <a:ln w="12700">
            <a:solidFill>
              <a:srgbClr val="2A342F"/>
            </a:solidFill>
            <a:prstDash val="solid"/>
          </a:ln>
        </p:spPr>
      </p:sp>
      <p:sp>
        <p:nvSpPr>
          <p:cNvPr id="10" name="Text 8"/>
          <p:cNvSpPr txBox="1"/>
          <p:nvPr/>
        </p:nvSpPr>
        <p:spPr>
          <a:xfrm>
            <a:off x="3063240" y="3703320"/>
            <a:ext cx="2331720" cy="685800"/>
          </a:xfrm>
          <a:prstGeom prst="rect">
            <a:avLst/>
          </a:prstGeom>
          <a:noFill/>
          <a:ln/>
        </p:spPr>
        <p:txBody>
          <a:bodyPr wrap="square" lIns="0" tIns="0" rIns="0" bIns="0" rtlCol="0" anchor="ctr"/>
          <a:lstStyle/>
          <a:p>
            <a:pPr algn="ctr" indent="0" marL="0">
              <a:buNone/>
            </a:pPr>
            <a:r>
              <a:rPr lang="en-US" sz="1250" b="1" dirty="0">
                <a:solidFill>
                  <a:srgbClr val="4FD8B0"/>
                </a:solidFill>
                <a:latin typeface="Calibri" pitchFamily="34" charset="0"/>
                <a:ea typeface="Calibri" pitchFamily="34" charset="-122"/>
                <a:cs typeface="Calibri" pitchFamily="34" charset="-120"/>
              </a:rPr>
              <a:t>2. Log a No-AI run</a:t>
            </a:r>
            <a:endParaRPr lang="en-US" sz="1250" dirty="0"/>
          </a:p>
        </p:txBody>
      </p:sp>
      <p:sp>
        <p:nvSpPr>
          <p:cNvPr id="11" name="Text 9"/>
          <p:cNvSpPr txBox="1"/>
          <p:nvPr/>
        </p:nvSpPr>
        <p:spPr>
          <a:xfrm>
            <a:off x="5376672" y="3703320"/>
            <a:ext cx="219456" cy="685800"/>
          </a:xfrm>
          <a:prstGeom prst="rect">
            <a:avLst/>
          </a:prstGeom>
          <a:noFill/>
          <a:ln/>
        </p:spPr>
        <p:txBody>
          <a:bodyPr wrap="square" lIns="0" tIns="0" rIns="0" bIns="0" rtlCol="0" anchor="ctr"/>
          <a:lstStyle/>
          <a:p>
            <a:pPr algn="ctr" indent="0" marL="0">
              <a:buNone/>
            </a:pPr>
            <a:r>
              <a:rPr lang="en-US" sz="1600" dirty="0">
                <a:solidFill>
                  <a:srgbClr val="9FB3A9"/>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5577840" y="3703320"/>
            <a:ext cx="2331720" cy="685800"/>
          </a:xfrm>
          <a:prstGeom prst="roundRect">
            <a:avLst>
              <a:gd name="adj" fmla="val 13333"/>
            </a:avLst>
          </a:prstGeom>
          <a:solidFill>
            <a:srgbClr val="1C231F"/>
          </a:solidFill>
          <a:ln w="12700">
            <a:solidFill>
              <a:srgbClr val="2A342F"/>
            </a:solidFill>
            <a:prstDash val="solid"/>
          </a:ln>
        </p:spPr>
      </p:sp>
      <p:sp>
        <p:nvSpPr>
          <p:cNvPr id="13" name="Text 11"/>
          <p:cNvSpPr txBox="1"/>
          <p:nvPr/>
        </p:nvSpPr>
        <p:spPr>
          <a:xfrm>
            <a:off x="5577840" y="3703320"/>
            <a:ext cx="2331720" cy="685800"/>
          </a:xfrm>
          <a:prstGeom prst="rect">
            <a:avLst/>
          </a:prstGeom>
          <a:noFill/>
          <a:ln/>
        </p:spPr>
        <p:txBody>
          <a:bodyPr wrap="square" lIns="0" tIns="0" rIns="0" bIns="0" rtlCol="0" anchor="ctr"/>
          <a:lstStyle/>
          <a:p>
            <a:pPr algn="ctr" indent="0" marL="0">
              <a:buNone/>
            </a:pPr>
            <a:r>
              <a:rPr lang="en-US" sz="1250" b="1" dirty="0">
                <a:solidFill>
                  <a:srgbClr val="4FD8B0"/>
                </a:solidFill>
                <a:latin typeface="Calibri" pitchFamily="34" charset="0"/>
                <a:ea typeface="Calibri" pitchFamily="34" charset="-122"/>
                <a:cs typeface="Calibri" pitchFamily="34" charset="-120"/>
              </a:rPr>
              <a:t>3. Log an AI-assisted run</a:t>
            </a:r>
            <a:endParaRPr lang="en-US" sz="1250" dirty="0"/>
          </a:p>
        </p:txBody>
      </p:sp>
      <p:sp>
        <p:nvSpPr>
          <p:cNvPr id="14" name="Text 12"/>
          <p:cNvSpPr txBox="1"/>
          <p:nvPr/>
        </p:nvSpPr>
        <p:spPr>
          <a:xfrm>
            <a:off x="7891272" y="3703320"/>
            <a:ext cx="219456" cy="685800"/>
          </a:xfrm>
          <a:prstGeom prst="rect">
            <a:avLst/>
          </a:prstGeom>
          <a:noFill/>
          <a:ln/>
        </p:spPr>
        <p:txBody>
          <a:bodyPr wrap="square" lIns="0" tIns="0" rIns="0" bIns="0" rtlCol="0" anchor="ctr"/>
          <a:lstStyle/>
          <a:p>
            <a:pPr algn="ctr" indent="0" marL="0">
              <a:buNone/>
            </a:pPr>
            <a:r>
              <a:rPr lang="en-US" sz="1600" dirty="0">
                <a:solidFill>
                  <a:srgbClr val="9FB3A9"/>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8092440" y="3703320"/>
            <a:ext cx="2331720" cy="685800"/>
          </a:xfrm>
          <a:prstGeom prst="roundRect">
            <a:avLst>
              <a:gd name="adj" fmla="val 13333"/>
            </a:avLst>
          </a:prstGeom>
          <a:solidFill>
            <a:srgbClr val="1C231F"/>
          </a:solidFill>
          <a:ln w="12700">
            <a:solidFill>
              <a:srgbClr val="2A342F"/>
            </a:solidFill>
            <a:prstDash val="solid"/>
          </a:ln>
        </p:spPr>
      </p:sp>
      <p:sp>
        <p:nvSpPr>
          <p:cNvPr id="16" name="Text 14"/>
          <p:cNvSpPr txBox="1"/>
          <p:nvPr/>
        </p:nvSpPr>
        <p:spPr>
          <a:xfrm>
            <a:off x="8092440" y="3703320"/>
            <a:ext cx="2331720" cy="685800"/>
          </a:xfrm>
          <a:prstGeom prst="rect">
            <a:avLst/>
          </a:prstGeom>
          <a:noFill/>
          <a:ln/>
        </p:spPr>
        <p:txBody>
          <a:bodyPr wrap="square" lIns="0" tIns="0" rIns="0" bIns="0" rtlCol="0" anchor="ctr"/>
          <a:lstStyle/>
          <a:p>
            <a:pPr algn="ctr" indent="0" marL="0">
              <a:buNone/>
            </a:pPr>
            <a:r>
              <a:rPr lang="en-US" sz="1250" b="1" dirty="0">
                <a:solidFill>
                  <a:srgbClr val="4FD8B0"/>
                </a:solidFill>
                <a:latin typeface="Calibri" pitchFamily="34" charset="0"/>
                <a:ea typeface="Calibri" pitchFamily="34" charset="-122"/>
                <a:cs typeface="Calibri" pitchFamily="34" charset="-120"/>
              </a:rPr>
              <a:t>4. Read the verdict</a:t>
            </a:r>
            <a:endParaRPr lang="en-US" sz="1250" dirty="0"/>
          </a:p>
        </p:txBody>
      </p:sp>
      <p:sp>
        <p:nvSpPr>
          <p:cNvPr id="17" name="Text 15"/>
          <p:cNvSpPr txBox="1"/>
          <p:nvPr/>
        </p:nvSpPr>
        <p:spPr>
          <a:xfrm>
            <a:off x="548640" y="4892040"/>
            <a:ext cx="7315200" cy="365760"/>
          </a:xfrm>
          <a:prstGeom prst="rect">
            <a:avLst/>
          </a:prstGeom>
          <a:noFill/>
          <a:ln/>
        </p:spPr>
        <p:txBody>
          <a:bodyPr wrap="square" lIns="0" tIns="0" rIns="0" bIns="0" rtlCol="0" anchor="ctr"/>
          <a:lstStyle/>
          <a:p>
            <a:pPr indent="0" marL="0">
              <a:buNone/>
            </a:pPr>
            <a:r>
              <a:rPr lang="en-US" sz="1300" i="1" dirty="0">
                <a:solidFill>
                  <a:srgbClr val="9FB3A9"/>
                </a:solidFill>
                <a:latin typeface="Calibri" pitchFamily="34" charset="0"/>
                <a:ea typeface="Calibri" pitchFamily="34" charset="-122"/>
                <a:cs typeface="Calibri" pitchFamily="34" charset="-120"/>
              </a:rPr>
              <a:t>No account, no install, no cost to try.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1C"/>
        </a:solidFill>
      </p:bgPr>
    </p:bg>
    <p:spTree>
      <p:nvGrpSpPr>
        <p:cNvPr id="1" name=""/>
        <p:cNvGrpSpPr/>
        <p:nvPr/>
      </p:nvGrpSpPr>
      <p:grpSpPr>
        <a:xfrm>
          <a:off x="0" y="0"/>
          <a:ext cx="0" cy="0"/>
          <a:chOff x="0" y="0"/>
          <a:chExt cx="0" cy="0"/>
        </a:xfrm>
      </p:grpSpPr>
      <p:sp>
        <p:nvSpPr>
          <p:cNvPr id="2" name="Shape 0"/>
          <p:cNvSpPr/>
          <p:nvPr/>
        </p:nvSpPr>
        <p:spPr>
          <a:xfrm>
            <a:off x="822960" y="2788920"/>
            <a:ext cx="146304" cy="146304"/>
          </a:xfrm>
          <a:prstGeom prst="ellipse">
            <a:avLst/>
          </a:prstGeom>
          <a:solidFill>
            <a:srgbClr val="4FD8B0"/>
          </a:solidFill>
          <a:ln/>
        </p:spPr>
      </p:sp>
      <p:sp>
        <p:nvSpPr>
          <p:cNvPr id="3" name="Text 1"/>
          <p:cNvSpPr txBox="1"/>
          <p:nvPr/>
        </p:nvSpPr>
        <p:spPr>
          <a:xfrm>
            <a:off x="777240" y="3063240"/>
            <a:ext cx="106070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Task</a:t>
            </a:r>
            <a:pPr indent="0" marL="0">
              <a:buNone/>
            </a:pPr>
            <a:r>
              <a:rPr lang="en-US" sz="4400" b="1" dirty="0">
                <a:solidFill>
                  <a:srgbClr val="4FD8B0"/>
                </a:solidFill>
                <a:latin typeface="Cambria" pitchFamily="34" charset="0"/>
                <a:ea typeface="Cambria" pitchFamily="34" charset="-122"/>
                <a:cs typeface="Cambria" pitchFamily="34" charset="-120"/>
              </a:rPr>
              <a:t>Pilot</a:t>
            </a:r>
            <a:endParaRPr lang="en-US" sz="4400" dirty="0"/>
          </a:p>
        </p:txBody>
      </p:sp>
      <p:sp>
        <p:nvSpPr>
          <p:cNvPr id="4" name="Text 2"/>
          <p:cNvSpPr txBox="1"/>
          <p:nvPr/>
        </p:nvSpPr>
        <p:spPr>
          <a:xfrm>
            <a:off x="822960" y="4023360"/>
            <a:ext cx="9144000" cy="548640"/>
          </a:xfrm>
          <a:prstGeom prst="rect">
            <a:avLst/>
          </a:prstGeom>
          <a:noFill/>
          <a:ln/>
        </p:spPr>
        <p:txBody>
          <a:bodyPr wrap="square" lIns="0" tIns="0" rIns="0" bIns="0" rtlCol="0" anchor="ctr"/>
          <a:lstStyle/>
          <a:p>
            <a:pPr indent="0" marL="0">
              <a:buNone/>
            </a:pPr>
            <a:r>
              <a:rPr lang="en-US" sz="1700" dirty="0">
                <a:solidFill>
                  <a:srgbClr val="D7E4DE"/>
                </a:solidFill>
                <a:latin typeface="Calibri" pitchFamily="34" charset="0"/>
                <a:ea typeface="Calibri" pitchFamily="34" charset="-122"/>
                <a:cs typeface="Calibri" pitchFamily="34" charset="-120"/>
              </a:rPr>
              <a:t>Evidence, not vibes. Thank you — questions welcome.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2026-09-21T10:48:02Z</dcterms:created>
  <dcterms:modified xsi:type="dcterms:W3CDTF">2026-09-21T10:48:02Z</dcterms:modified>
</cp:coreProperties>
</file>